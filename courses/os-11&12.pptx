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4607940" cy="3456051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8" Type="http://schemas.openxmlformats.org/officeDocument/2006/relationships/viewProps" Target="viewProps.xml"/><Relationship Id="rId47" Type="http://schemas.openxmlformats.org/officeDocument/2006/relationships/tableStyles" Target="tableStyles.xml"/><Relationship Id="rId46" Type="http://schemas.openxmlformats.org/officeDocument/2006/relationships/presProps" Target="presProps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" Target="slide44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" Target="slide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3" Type="http://schemas.openxmlformats.org/officeDocument/2006/relationships/slide" Target="slide1.xml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" Target="slide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0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2" Type="http://schemas.openxmlformats.org/officeDocument/2006/relationships/slide" Target="slide1.xml"/><Relationship Id="rId11" Type="http://schemas.openxmlformats.org/officeDocument/2006/relationships/image" Target="../media/image77.png"/><Relationship Id="rId10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image" Target="../media/image80.png"/><Relationship Id="rId4" Type="http://schemas.openxmlformats.org/officeDocument/2006/relationships/slide" Target="slide1.xml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0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95.png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png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2" Type="http://schemas.openxmlformats.org/officeDocument/2006/relationships/slide" Target="slide1.xml"/><Relationship Id="rId11" Type="http://schemas.openxmlformats.org/officeDocument/2006/relationships/image" Target="../media/image105.png"/><Relationship Id="rId10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" Target="slide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17.png"/><Relationship Id="rId7" Type="http://schemas.openxmlformats.org/officeDocument/2006/relationships/image" Target="../media/image116.png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" Target="slide1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png"/><Relationship Id="rId8" Type="http://schemas.openxmlformats.org/officeDocument/2006/relationships/image" Target="../media/image128.png"/><Relationship Id="rId7" Type="http://schemas.openxmlformats.org/officeDocument/2006/relationships/image" Target="../media/image127.png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0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" Target="slide1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" Target="slide1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55.png"/><Relationship Id="rId7" Type="http://schemas.openxmlformats.org/officeDocument/2006/relationships/image" Target="../media/image154.png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" Target="slide1.xml"/><Relationship Id="rId8" Type="http://schemas.openxmlformats.org/officeDocument/2006/relationships/image" Target="../media/image164.png"/><Relationship Id="rId7" Type="http://schemas.openxmlformats.org/officeDocument/2006/relationships/image" Target="../media/image163.png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0" Type="http://schemas.openxmlformats.org/officeDocument/2006/relationships/image" Target="../media/image165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9.png"/><Relationship Id="rId8" Type="http://schemas.openxmlformats.org/officeDocument/2006/relationships/image" Target="../media/image178.png"/><Relationship Id="rId7" Type="http://schemas.openxmlformats.org/officeDocument/2006/relationships/image" Target="../media/image177.png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0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7" Type="http://schemas.openxmlformats.org/officeDocument/2006/relationships/image" Target="../media/image187.png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" Target="slide1.xml"/><Relationship Id="rId5" Type="http://schemas.openxmlformats.org/officeDocument/2006/relationships/image" Target="../media/image193.png"/><Relationship Id="rId4" Type="http://schemas.openxmlformats.org/officeDocument/2006/relationships/image" Target="../media/image192.png"/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" Target="slide1.xml"/><Relationship Id="rId5" Type="http://schemas.openxmlformats.org/officeDocument/2006/relationships/image" Target="../media/image199.png"/><Relationship Id="rId4" Type="http://schemas.openxmlformats.org/officeDocument/2006/relationships/image" Target="../media/image198.png"/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" Target="slide1.xml"/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" Target="slide1.xml"/><Relationship Id="rId5" Type="http://schemas.openxmlformats.org/officeDocument/2006/relationships/image" Target="../media/image205.png"/><Relationship Id="rId4" Type="http://schemas.openxmlformats.org/officeDocument/2006/relationships/image" Target="../media/image204.png"/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3.png"/><Relationship Id="rId8" Type="http://schemas.openxmlformats.org/officeDocument/2006/relationships/image" Target="../media/image212.png"/><Relationship Id="rId7" Type="http://schemas.openxmlformats.org/officeDocument/2006/relationships/image" Target="../media/image211.png"/><Relationship Id="rId6" Type="http://schemas.openxmlformats.org/officeDocument/2006/relationships/image" Target="../media/image210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2" Type="http://schemas.openxmlformats.org/officeDocument/2006/relationships/slide" Target="slide1.xml"/><Relationship Id="rId11" Type="http://schemas.openxmlformats.org/officeDocument/2006/relationships/image" Target="../media/image215.png"/><Relationship Id="rId10" Type="http://schemas.openxmlformats.org/officeDocument/2006/relationships/image" Target="../media/image2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38544" y="886365"/>
          <a:ext cx="4432300" cy="679450"/>
        </p:xfrm>
        <a:graphic>
          <a:graphicData uri="http://schemas.openxmlformats.org/drawingml/2006/table">
            <a:tbl>
              <a:tblPr/>
              <a:tblGrid>
                <a:gridCol w="4432300"/>
              </a:tblGrid>
              <a:tr h="673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3560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0" dirty="0">
                          <a:solidFill>
                            <a:srgbClr val="CC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操作系统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562100" algn="l" rtl="0" eaLnBrk="0">
                        <a:lnSpc>
                          <a:spcPts val="1386"/>
                        </a:lnSpc>
                        <a:spcBef>
                          <a:spcPts val="197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CC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信号量 </a:t>
                      </a:r>
                      <a:r>
                        <a:rPr sz="1000" kern="0" spc="20" dirty="0">
                          <a:solidFill>
                            <a:srgbClr val="CC0000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CC0000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semaphores</a:t>
                      </a:r>
                      <a:r>
                        <a:rPr sz="1000" kern="0" spc="20" dirty="0">
                          <a:solidFill>
                            <a:srgbClr val="CC0000">
                              <a:alpha val="100000"/>
                            </a:srgbClr>
                          </a:solidFill>
                          <a:latin typeface="Georgia"/>
                          <a:ea typeface="Georgia"/>
                          <a:cs typeface="Georgia"/>
                        </a:rPr>
                        <a:t>)</a:t>
                      </a:r>
                      <a:endParaRPr sz="1000" dirty="0">
                        <a:latin typeface="Georgia"/>
                        <a:ea typeface="Georgia"/>
                        <a:cs typeface="Georgi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0"/>
            <a:ext cx="4607940" cy="13987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8" name="textbox 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 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  <p:sp>
        <p:nvSpPr>
          <p:cNvPr id="10" name="textbox 10"/>
          <p:cNvSpPr/>
          <p:nvPr/>
        </p:nvSpPr>
        <p:spPr>
          <a:xfrm>
            <a:off x="2122997" y="1716403"/>
            <a:ext cx="367029" cy="724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86"/>
              </a:lnSpc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syslab</a:t>
            </a:r>
            <a:endParaRPr sz="1000" dirty="0">
              <a:latin typeface="Georgia"/>
              <a:ea typeface="Georgia"/>
              <a:cs typeface="Georgia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3180" algn="l" rtl="0" eaLnBrk="0">
              <a:lnSpc>
                <a:spcPct val="69000"/>
              </a:lnSpc>
              <a:spcBef>
                <a:spcPts val="1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2025</a:t>
            </a:r>
            <a:endParaRPr sz="1000" dirty="0">
              <a:latin typeface="Georgia"/>
              <a:ea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-12700" y="-12700"/>
              <a:ext cx="4633595" cy="534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62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0335" algn="l" rtl="0" eaLnBrk="0">
                <a:lnSpc>
                  <a:spcPct val="88000"/>
                </a:lnSpc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本节涵盖的主题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6" name="textbox 16"/>
          <p:cNvSpPr/>
          <p:nvPr/>
        </p:nvSpPr>
        <p:spPr>
          <a:xfrm>
            <a:off x="151222" y="1299447"/>
            <a:ext cx="2484120" cy="932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4945" algn="l" rtl="0" eaLnBrk="0">
              <a:lnSpc>
                <a:spcPct val="83000"/>
              </a:lnSpc>
              <a:tabLst>
                <a:tab pos="27876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条件变量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94945" algn="l" rtl="0" eaLnBrk="0">
              <a:lnSpc>
                <a:spcPts val="1316"/>
              </a:lnSpc>
              <a:tabLst>
                <a:tab pos="27050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信号量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94945" algn="l" rtl="0" eaLnBrk="0">
              <a:lnSpc>
                <a:spcPct val="109000"/>
              </a:lnSpc>
              <a:spcBef>
                <a:spcPts val="209"/>
              </a:spcBef>
              <a:tabLst>
                <a:tab pos="276225" algn="l"/>
                <a:tab pos="27812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通过条件变量和信号量进行信号传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递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并发错误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3"/>
              </a:spcBef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包含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OSTEP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中的第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30</a:t>
            </a:r>
            <a:r>
              <a:rPr sz="1000" kern="0" spc="-13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31</a:t>
            </a:r>
            <a:r>
              <a:rPr sz="1000" kern="0" spc="-13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32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章节。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1862835"/>
            <a:ext cx="65201" cy="65201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1690763"/>
            <a:ext cx="65201" cy="65201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518691"/>
            <a:ext cx="65201" cy="65201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346619"/>
            <a:ext cx="65201" cy="6520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8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0"/>
          <p:cNvSpPr/>
          <p:nvPr/>
        </p:nvSpPr>
        <p:spPr>
          <a:xfrm>
            <a:off x="128438" y="815535"/>
            <a:ext cx="4298950" cy="2131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indent="1270" algn="l" rtl="0" eaLnBrk="0">
              <a:lnSpc>
                <a:spcPct val="108000"/>
              </a:lnSpc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在并发编程中，  一个常见的情况是一个线程等待另一个线程完成某个操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7779" indent="1905" algn="l" rtl="0" eaLnBrk="0">
              <a:lnSpc>
                <a:spcPct val="118000"/>
              </a:lnSpc>
              <a:spcBef>
                <a:spcPts val="1010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2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bool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12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false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8000"/>
              </a:lnSpc>
              <a:spcBef>
                <a:spcPts val="457"/>
              </a:spcBef>
              <a:tabLst/>
            </a:pPr>
            <a:r>
              <a:rPr sz="800" kern="0" spc="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    </a:t>
            </a:r>
            <a:r>
              <a:rPr sz="800" kern="0" spc="6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</a:t>
            </a:r>
            <a:r>
              <a:rPr sz="800" kern="0" spc="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6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在子线程中调用以</a:t>
            </a:r>
            <a:r>
              <a:rPr sz="1100" kern="0" spc="5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信号终止  </a:t>
            </a:r>
            <a:r>
              <a:rPr sz="800" kern="0" spc="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177"/>
              </a:spcBef>
              <a:tabLst/>
            </a:pPr>
            <a:r>
              <a:rPr sz="800" kern="0" spc="18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   </a:t>
            </a:r>
            <a:r>
              <a:rPr sz="800" kern="0" spc="1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thr_exit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4000"/>
              </a:lnSpc>
              <a:spcBef>
                <a:spcPts val="479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true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-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8000"/>
              </a:lnSpc>
              <a:spcBef>
                <a:spcPts val="485"/>
              </a:spcBef>
              <a:tabLst/>
            </a:pPr>
            <a:r>
              <a:rPr sz="800" kern="0" spc="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    </a:t>
            </a:r>
            <a:r>
              <a:rPr sz="800" kern="0" spc="6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</a:t>
            </a:r>
            <a:r>
              <a:rPr sz="800" kern="0" spc="4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6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在父线程</a:t>
            </a:r>
            <a:r>
              <a:rPr sz="1100" kern="0" spc="5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中调用以等待子线程  </a:t>
            </a:r>
            <a:r>
              <a:rPr sz="800" kern="0" spc="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6000"/>
              </a:lnSpc>
              <a:spcBef>
                <a:spcPts val="182"/>
              </a:spcBef>
              <a:tabLst/>
            </a:pPr>
            <a:r>
              <a:rPr sz="800" kern="0" spc="18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</a:t>
            </a:r>
            <a:r>
              <a:rPr sz="800" kern="0" spc="1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thr_jo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800" kern="0" spc="1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5000"/>
              </a:lnSpc>
              <a:spcBef>
                <a:spcPts val="429"/>
              </a:spcBef>
              <a:tabLst/>
            </a:pP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800" kern="0" spc="16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while</a:t>
            </a:r>
            <a:r>
              <a:rPr sz="800" kern="0" spc="12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(!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0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条件变量（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CV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</a:t>
              </a:r>
              <a:r>
                <a:rPr sz="500" kern="0" spc="-3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40"/>
          <p:cNvSpPr/>
          <p:nvPr/>
        </p:nvSpPr>
        <p:spPr>
          <a:xfrm>
            <a:off x="268465" y="1203940"/>
            <a:ext cx="4123054" cy="663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8000"/>
              </a:lnSpc>
              <a:tabLst>
                <a:tab pos="15430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锁允许共享区域的互斥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访问。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03"/>
              </a:spcBef>
              <a:tabLst>
                <a:tab pos="44069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不幸的是，它们对顺序是不可见的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60020" indent="-82550" algn="l" rtl="0" eaLnBrk="0">
              <a:lnSpc>
                <a:spcPct val="110000"/>
              </a:lnSpc>
              <a:spcBef>
                <a:spcPts val="177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等待和唤醒（即， 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T2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等待直到</a:t>
            </a: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T1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完成给定任务）可以通过自旋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现，直到值发生变化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1576806"/>
            <a:ext cx="65201" cy="65201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915" y="1417408"/>
            <a:ext cx="52527" cy="5252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1252905"/>
            <a:ext cx="65201" cy="65201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0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条件变量（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CV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52" name="picture 5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54" name="textbox 5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7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4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6"/>
          <p:cNvSpPr/>
          <p:nvPr/>
        </p:nvSpPr>
        <p:spPr>
          <a:xfrm>
            <a:off x="268465" y="1203940"/>
            <a:ext cx="4123054" cy="912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8000"/>
              </a:lnSpc>
              <a:tabLst>
                <a:tab pos="15430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锁允许共享区域的互斥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访问。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03"/>
              </a:spcBef>
              <a:tabLst>
                <a:tab pos="44069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不幸的是，它们对顺序是不可见的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60020" indent="-82550" algn="l" rtl="0" eaLnBrk="0">
              <a:lnSpc>
                <a:spcPct val="110000"/>
              </a:lnSpc>
              <a:spcBef>
                <a:spcPts val="177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等待和唤醒（即， 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T2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等待直到</a:t>
            </a: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T1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完成给定任务）可以通过自旋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现，直到值发生变化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8000"/>
              </a:lnSpc>
              <a:spcBef>
                <a:spcPts val="5"/>
              </a:spcBef>
              <a:tabLst>
                <a:tab pos="15112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但自旋效率极低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2006993"/>
            <a:ext cx="65201" cy="65201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1576806"/>
            <a:ext cx="65201" cy="65201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915" y="1417408"/>
            <a:ext cx="52527" cy="52527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252905"/>
            <a:ext cx="65201" cy="65201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68" name="textbox 68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0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条件变量（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CV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8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4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4"/>
          <p:cNvSpPr/>
          <p:nvPr/>
        </p:nvSpPr>
        <p:spPr>
          <a:xfrm>
            <a:off x="268465" y="1203940"/>
            <a:ext cx="4123054" cy="1186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8000"/>
              </a:lnSpc>
              <a:tabLst>
                <a:tab pos="15430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锁允许共享区域的互斥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访问。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03"/>
              </a:spcBef>
              <a:tabLst>
                <a:tab pos="44069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不幸的是，它们对顺序是不可见的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60020" indent="-82550" algn="l" rtl="0" eaLnBrk="0">
              <a:lnSpc>
                <a:spcPct val="110000"/>
              </a:lnSpc>
              <a:spcBef>
                <a:spcPts val="177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等待和唤醒（即， 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T2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等待直到</a:t>
            </a: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T1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完成给定任务）可以通过自旋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现，直到值发生变化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88000"/>
              </a:lnSpc>
              <a:spcBef>
                <a:spcPts val="904"/>
              </a:spcBef>
              <a:tabLst>
                <a:tab pos="15112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但自旋效率极低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8000"/>
              </a:lnSpc>
              <a:spcBef>
                <a:spcPts val="6"/>
              </a:spcBef>
              <a:tabLst>
                <a:tab pos="15557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新的同步原语：</a:t>
            </a:r>
            <a:r>
              <a:rPr sz="1000" kern="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条件变量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2265108"/>
            <a:ext cx="65201" cy="65201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2006993"/>
            <a:ext cx="65201" cy="65201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1576806"/>
            <a:ext cx="65201" cy="65201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915" y="1417408"/>
            <a:ext cx="52527" cy="52527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252905"/>
            <a:ext cx="65201" cy="65201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86" name="picture 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88" name="textbox 88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0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条件变量（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CV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90" name="picture 9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92" name="textbox 92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9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4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4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94" name="picture 9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96" name="textbox 96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0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条件变量（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CV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8" name="textbox 98"/>
          <p:cNvSpPr/>
          <p:nvPr/>
        </p:nvSpPr>
        <p:spPr>
          <a:xfrm>
            <a:off x="268465" y="1065221"/>
            <a:ext cx="1823085" cy="634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9000"/>
              </a:lnSpc>
              <a:tabLst>
                <a:tab pos="16192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条件变量允许：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184"/>
              </a:spcBef>
              <a:tabLst>
                <a:tab pos="4375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一个线程等待一个条件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77469" indent="276859" algn="l" rtl="0" eaLnBrk="0">
              <a:lnSpc>
                <a:spcPct val="113000"/>
              </a:lnSpc>
              <a:spcBef>
                <a:spcPts val="18"/>
              </a:spcBef>
              <a:tabLst>
                <a:tab pos="154304" algn="l"/>
                <a:tab pos="43688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另一个线程唤醒等待线程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使用队列实现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CV</a:t>
            </a:r>
            <a:endParaRPr sz="1000" dirty="0">
              <a:latin typeface="Georgia"/>
              <a:ea typeface="Georgia"/>
              <a:cs typeface="Georgia"/>
            </a:endParaRP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1588135"/>
            <a:ext cx="65201" cy="65201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915" y="1428724"/>
            <a:ext cx="52527" cy="52527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915" y="1276896"/>
            <a:ext cx="52527" cy="52527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112393"/>
            <a:ext cx="65201" cy="65201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8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5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12"/>
          <p:cNvSpPr/>
          <p:nvPr/>
        </p:nvSpPr>
        <p:spPr>
          <a:xfrm>
            <a:off x="268465" y="1065221"/>
            <a:ext cx="2456179" cy="1518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9000"/>
              </a:lnSpc>
              <a:tabLst>
                <a:tab pos="16192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条件变量允许：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184"/>
              </a:spcBef>
              <a:tabLst>
                <a:tab pos="4375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一个线程等待一个条件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5000"/>
              </a:lnSpc>
              <a:spcBef>
                <a:spcPts val="245"/>
              </a:spcBef>
              <a:tabLst>
                <a:tab pos="43688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另一个线程唤醒等待线程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ts val="1332"/>
              </a:lnSpc>
              <a:tabLst>
                <a:tab pos="15430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使用队列实现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CV</a:t>
            </a:r>
            <a:endParaRPr sz="1000" dirty="0">
              <a:latin typeface="Georgia"/>
              <a:ea typeface="Georgia"/>
              <a:cs typeface="Georgia"/>
            </a:endParaRPr>
          </a:p>
          <a:p>
            <a:pPr marL="354329" indent="-276859" algn="l" rtl="0" eaLnBrk="0">
              <a:lnSpc>
                <a:spcPct val="95000"/>
              </a:lnSpc>
              <a:spcBef>
                <a:spcPts val="1088"/>
              </a:spcBef>
              <a:tabLst>
                <a:tab pos="140335" algn="l"/>
                <a:tab pos="42481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	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API: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wait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0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signal 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or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broadcast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wait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:</a:t>
            </a:r>
            <a:r>
              <a:rPr sz="900" kern="0" spc="23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等待直到满足条件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77"/>
              </a:spcBef>
              <a:tabLst>
                <a:tab pos="432434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signal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:</a:t>
            </a:r>
            <a:r>
              <a:rPr sz="900" kern="0" spc="2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唤醒一个等待的线程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44"/>
              </a:spcBef>
              <a:tabLst>
                <a:tab pos="43116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broadcast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:</a:t>
            </a: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唤醒所有等待的线程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8000"/>
              </a:lnSpc>
              <a:spcBef>
                <a:spcPts val="1"/>
              </a:spcBef>
              <a:tabLst>
                <a:tab pos="15240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Linux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上，</a:t>
            </a:r>
            <a:r>
              <a:rPr sz="10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pthreads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提供了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CV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2473807"/>
            <a:ext cx="65201" cy="65201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915" y="2314409"/>
            <a:ext cx="52527" cy="52527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915" y="2162581"/>
            <a:ext cx="52527" cy="52527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915" y="2010740"/>
            <a:ext cx="52527" cy="52527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846237"/>
            <a:ext cx="65201" cy="65201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165" y="1588135"/>
            <a:ext cx="65201" cy="65201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70915" y="1428724"/>
            <a:ext cx="52527" cy="52527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70915" y="1276896"/>
            <a:ext cx="52527" cy="52527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81165" y="1112393"/>
            <a:ext cx="65201" cy="65201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134" name="textbox 134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0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条件变量（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CV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138" name="textbox 13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13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5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40"/>
          <p:cNvSpPr/>
          <p:nvPr/>
        </p:nvSpPr>
        <p:spPr>
          <a:xfrm>
            <a:off x="128438" y="658433"/>
            <a:ext cx="3564254" cy="2546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2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bool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12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false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4000"/>
              </a:lnSpc>
              <a:spcBef>
                <a:spcPts val="453"/>
              </a:spcBef>
              <a:tabLst/>
            </a:pPr>
            <a:r>
              <a:rPr sz="800" kern="0" spc="8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  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ad_mutex_t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PTHREAD_MUTEX_INITIALIZER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4000"/>
              </a:lnSpc>
              <a:spcBef>
                <a:spcPts val="453"/>
              </a:spcBef>
              <a:tabLst/>
            </a:pPr>
            <a:r>
              <a:rPr sz="800" kern="0" spc="8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    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pthread_cond_t  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D_INITIALIZER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42"/>
              </a:spcBef>
              <a:tabLst/>
            </a:pPr>
            <a:r>
              <a:rPr sz="800" kern="0" spc="2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20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thr_exit</a:t>
            </a:r>
            <a:r>
              <a:rPr sz="800" kern="0" spc="2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2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20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//</a:t>
            </a:r>
            <a:r>
              <a:rPr sz="800" kern="0" spc="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在子进程中调用以信号终止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8415" algn="l" rtl="0" eaLnBrk="0">
              <a:lnSpc>
                <a:spcPct val="95000"/>
              </a:lnSpc>
              <a:spcBef>
                <a:spcPts val="194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pthread_mutex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_lock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4000"/>
              </a:lnSpc>
              <a:spcBef>
                <a:spcPts val="453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true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6000"/>
              </a:lnSpc>
              <a:spcBef>
                <a:spcPts val="447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     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pthread_cond_signal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5000"/>
              </a:lnSpc>
              <a:spcBef>
                <a:spcPts val="430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800" kern="0" spc="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pthread_mutex_unlock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8000"/>
              </a:lnSpc>
              <a:spcBef>
                <a:spcPts val="468"/>
              </a:spcBef>
              <a:tabLst/>
            </a:pPr>
            <a:r>
              <a:rPr sz="800" kern="0" spc="18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thr_join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   </a:t>
            </a:r>
            <a:r>
              <a:rPr sz="800" kern="0" spc="1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//</a:t>
            </a:r>
            <a:r>
              <a:rPr sz="800" kern="0" spc="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2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在父进程中调用以等待子线程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20320" algn="l" rtl="0" eaLnBrk="0">
              <a:lnSpc>
                <a:spcPct val="95000"/>
              </a:lnSpc>
              <a:spcBef>
                <a:spcPts val="195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_mutex_lock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800" kern="0" spc="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4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while</a:t>
            </a:r>
            <a:r>
              <a:rPr sz="800" kern="0" spc="9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(!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spcBef>
                <a:spcPts val="470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r>
              <a:rPr sz="800" kern="0" spc="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pthread_cond_wait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14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pthread_mutex_unlock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142" name="picture 1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144" name="textbox 144"/>
            <p:cNvSpPr/>
            <p:nvPr/>
          </p:nvSpPr>
          <p:spPr>
            <a:xfrm>
              <a:off x="-12700" y="-12700"/>
              <a:ext cx="4633595" cy="5384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87000"/>
                </a:lnSpc>
                <a:tabLst/>
              </a:pP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通知父进程子进程已退出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146" name="picture 1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148" name="textbox 14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6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150" name="picture 1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152" name="textbox 152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通知父进程子进程已退</a:t>
              </a:r>
              <a:r>
                <a:rPr sz="1400" kern="0" spc="-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出（</a:t>
              </a:r>
              <a:r>
                <a:rPr sz="1400" kern="0" spc="-17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300" kern="0" spc="-1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</a:t>
              </a:r>
              <a:r>
                <a:rPr sz="1400" kern="0" spc="-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54" name="textbox 154"/>
          <p:cNvSpPr/>
          <p:nvPr/>
        </p:nvSpPr>
        <p:spPr>
          <a:xfrm>
            <a:off x="268465" y="1061912"/>
            <a:ext cx="4192904" cy="473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95000"/>
              </a:lnSpc>
              <a:tabLst>
                <a:tab pos="154939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pthread_cond_wait(pthread_cond_t  *c,  pthread_mut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ex_t  *m)</a:t>
            </a:r>
            <a:endParaRPr sz="800" dirty="0">
              <a:latin typeface="Arial"/>
              <a:ea typeface="Arial"/>
              <a:cs typeface="Arial"/>
            </a:endParaRPr>
          </a:p>
          <a:p>
            <a:pPr marL="77469" indent="276859" algn="l" rtl="0" eaLnBrk="0">
              <a:lnSpc>
                <a:spcPct val="98000"/>
              </a:lnSpc>
              <a:spcBef>
                <a:spcPts val="259"/>
              </a:spcBef>
              <a:tabLst>
                <a:tab pos="172720" algn="l"/>
                <a:tab pos="429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假设持有互斥锁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原子地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在等待时解锁互斥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锁，在唤醒时重新获取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问题：为什么我们需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要在睡眠之前检查条件？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1422704"/>
            <a:ext cx="65201" cy="65201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915" y="1263306"/>
            <a:ext cx="52527" cy="52527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098791"/>
            <a:ext cx="65201" cy="65201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162" name="picture 16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164" name="textbox 16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7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7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66"/>
          <p:cNvSpPr/>
          <p:nvPr/>
        </p:nvSpPr>
        <p:spPr>
          <a:xfrm>
            <a:off x="268465" y="1061912"/>
            <a:ext cx="4192904" cy="873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95000"/>
              </a:lnSpc>
              <a:tabLst>
                <a:tab pos="154939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pthread_cond_wait(pthread_cond_t  *c,  pthread_mut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ex_t  *m)</a:t>
            </a:r>
            <a:endParaRPr sz="800" dirty="0">
              <a:latin typeface="Arial"/>
              <a:ea typeface="Arial"/>
              <a:cs typeface="Arial"/>
            </a:endParaRPr>
          </a:p>
          <a:p>
            <a:pPr marL="77469" indent="276859" algn="l" rtl="0" eaLnBrk="0">
              <a:lnSpc>
                <a:spcPct val="98000"/>
              </a:lnSpc>
              <a:spcBef>
                <a:spcPts val="259"/>
              </a:spcBef>
              <a:tabLst>
                <a:tab pos="172720" algn="l"/>
                <a:tab pos="429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假设持有互斥锁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原子地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在等待时解锁互斥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锁，在唤醒时重新获取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问题：为什么我们需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要在睡眠之前检查条件？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85000"/>
              </a:lnSpc>
              <a:spcBef>
                <a:spcPts val="968"/>
              </a:spcBef>
              <a:tabLst>
                <a:tab pos="16446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线程可能已经退出，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即不需要等待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ts val="1162"/>
              </a:lnSpc>
              <a:tabLst>
                <a:tab pos="429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原则：在睡眠之前检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查条件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8" name="picture 1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0915" y="1845322"/>
            <a:ext cx="52527" cy="52527"/>
          </a:xfrm>
          <a:prstGeom prst="rect">
            <a:avLst/>
          </a:prstGeom>
        </p:spPr>
      </p:pic>
      <p:pic>
        <p:nvPicPr>
          <p:cNvPr id="170" name="picture 1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1680819"/>
            <a:ext cx="65201" cy="65201"/>
          </a:xfrm>
          <a:prstGeom prst="rect">
            <a:avLst/>
          </a:prstGeom>
        </p:spPr>
      </p:pic>
      <p:pic>
        <p:nvPicPr>
          <p:cNvPr id="172" name="picture 1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1422704"/>
            <a:ext cx="65201" cy="65201"/>
          </a:xfrm>
          <a:prstGeom prst="rect">
            <a:avLst/>
          </a:prstGeom>
        </p:spPr>
      </p:pic>
      <p:pic>
        <p:nvPicPr>
          <p:cNvPr id="174" name="picture 1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915" y="1263306"/>
            <a:ext cx="52527" cy="52527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098791"/>
            <a:ext cx="65201" cy="65201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178" name="picture 17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180" name="textbox 180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通知父进程子进程已退</a:t>
              </a:r>
              <a:r>
                <a:rPr sz="1400" kern="0" spc="-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出（</a:t>
              </a:r>
              <a:r>
                <a:rPr sz="1400" kern="0" spc="-17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300" kern="0" spc="-1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</a:t>
              </a:r>
              <a:r>
                <a:rPr sz="1400" kern="0" spc="-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182" name="picture 18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184" name="textbox 18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9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7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86"/>
          <p:cNvSpPr/>
          <p:nvPr/>
        </p:nvSpPr>
        <p:spPr>
          <a:xfrm>
            <a:off x="268465" y="1061912"/>
            <a:ext cx="4192904" cy="1141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95000"/>
              </a:lnSpc>
              <a:tabLst>
                <a:tab pos="154939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pthread_cond_wait(pthread_cond_t  *c,  pthread_mut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ex_t  *m)</a:t>
            </a:r>
            <a:endParaRPr sz="800" dirty="0">
              <a:latin typeface="Arial"/>
              <a:ea typeface="Arial"/>
              <a:cs typeface="Arial"/>
            </a:endParaRPr>
          </a:p>
          <a:p>
            <a:pPr marL="77469" indent="276859" algn="l" rtl="0" eaLnBrk="0">
              <a:lnSpc>
                <a:spcPct val="98000"/>
              </a:lnSpc>
              <a:spcBef>
                <a:spcPts val="259"/>
              </a:spcBef>
              <a:tabLst>
                <a:tab pos="172720" algn="l"/>
                <a:tab pos="429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假设持有互斥锁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原子地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在等待时解锁互斥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锁，在唤醒时重新获取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问题：为什么我们需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要在睡眠之前检查条件？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85000"/>
              </a:lnSpc>
              <a:spcBef>
                <a:spcPts val="968"/>
              </a:spcBef>
              <a:tabLst>
                <a:tab pos="16446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线程可能已经退出，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即不需要等待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ts val="1162"/>
              </a:lnSpc>
              <a:tabLst>
                <a:tab pos="429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原则：在睡眠之前检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查条件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ts val="1256"/>
              </a:lnSpc>
              <a:spcBef>
                <a:spcPts val="6"/>
              </a:spcBef>
              <a:tabLst>
                <a:tab pos="17272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问题：为什么我们不能在等待时使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8" name="picture 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2090750"/>
            <a:ext cx="65201" cy="65201"/>
          </a:xfrm>
          <a:prstGeom prst="rect">
            <a:avLst/>
          </a:prstGeom>
        </p:spPr>
      </p:pic>
      <p:pic>
        <p:nvPicPr>
          <p:cNvPr id="190" name="picture 1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915" y="1845322"/>
            <a:ext cx="52527" cy="52527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1680819"/>
            <a:ext cx="65201" cy="65201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422704"/>
            <a:ext cx="65201" cy="65201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70915" y="1263306"/>
            <a:ext cx="52527" cy="52527"/>
          </a:xfrm>
          <a:prstGeom prst="rect">
            <a:avLst/>
          </a:prstGeom>
        </p:spPr>
      </p:pic>
      <p:pic>
        <p:nvPicPr>
          <p:cNvPr id="198" name="picture 1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165" y="1098791"/>
            <a:ext cx="65201" cy="65201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200" name="picture 2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202" name="textbox 202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通知父进程子进程已退</a:t>
              </a:r>
              <a:r>
                <a:rPr sz="1400" kern="0" spc="-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出（</a:t>
              </a:r>
              <a:r>
                <a:rPr sz="1400" kern="0" spc="-17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300" kern="0" spc="-1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</a:t>
              </a:r>
              <a:r>
                <a:rPr sz="1400" kern="0" spc="-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204" name="picture 20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206" name="textbox 206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10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7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208"/>
          <p:cNvSpPr/>
          <p:nvPr/>
        </p:nvSpPr>
        <p:spPr>
          <a:xfrm>
            <a:off x="268465" y="1061912"/>
            <a:ext cx="4192904" cy="1544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95000"/>
              </a:lnSpc>
              <a:tabLst>
                <a:tab pos="154939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pthread_cond_wait(pthread_cond_t  *c,  pthread_mut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ex_t  *m)</a:t>
            </a:r>
            <a:endParaRPr sz="800" dirty="0">
              <a:latin typeface="Arial"/>
              <a:ea typeface="Arial"/>
              <a:cs typeface="Arial"/>
            </a:endParaRPr>
          </a:p>
          <a:p>
            <a:pPr marL="77469" indent="276859" algn="l" rtl="0" eaLnBrk="0">
              <a:lnSpc>
                <a:spcPct val="98000"/>
              </a:lnSpc>
              <a:spcBef>
                <a:spcPts val="259"/>
              </a:spcBef>
              <a:tabLst>
                <a:tab pos="172720" algn="l"/>
                <a:tab pos="429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假设持有互斥锁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原子地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在等待时解锁互斥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锁，在唤醒时重新获取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问题：为什么我们需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要在睡眠之前检查条件？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85000"/>
              </a:lnSpc>
              <a:spcBef>
                <a:spcPts val="968"/>
              </a:spcBef>
              <a:tabLst>
                <a:tab pos="16446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线程可能已经退出，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即不需要等待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ts val="1162"/>
              </a:lnSpc>
              <a:tabLst>
                <a:tab pos="429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原则：在睡眠之前检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查条件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ts val="1256"/>
              </a:lnSpc>
              <a:spcBef>
                <a:spcPts val="854"/>
              </a:spcBef>
              <a:tabLst>
                <a:tab pos="17272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问题：为什么我们不能在等待时使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88000"/>
              </a:lnSpc>
              <a:spcBef>
                <a:spcPts val="945"/>
              </a:spcBef>
              <a:tabLst>
                <a:tab pos="16128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可能唤醒多个线程，竞争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标志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27"/>
              </a:spcBef>
              <a:tabLst>
                <a:tab pos="42925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原则：在等待时使用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while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而不是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pic>
        <p:nvPicPr>
          <p:cNvPr id="210" name="picture 2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0915" y="2513368"/>
            <a:ext cx="52527" cy="52527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2348865"/>
            <a:ext cx="65201" cy="65201"/>
          </a:xfrm>
          <a:prstGeom prst="rect">
            <a:avLst/>
          </a:prstGeom>
        </p:spPr>
      </p:pic>
      <p:pic>
        <p:nvPicPr>
          <p:cNvPr id="214" name="picture 2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2090750"/>
            <a:ext cx="65201" cy="65201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915" y="1845322"/>
            <a:ext cx="52527" cy="52527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680819"/>
            <a:ext cx="65201" cy="65201"/>
          </a:xfrm>
          <a:prstGeom prst="rect">
            <a:avLst/>
          </a:prstGeom>
        </p:spPr>
      </p:pic>
      <p:pic>
        <p:nvPicPr>
          <p:cNvPr id="220" name="picture 2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165" y="1422704"/>
            <a:ext cx="65201" cy="65201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70915" y="1263306"/>
            <a:ext cx="52527" cy="52527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81165" y="1098791"/>
            <a:ext cx="65201" cy="65201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226" name="picture 22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228" name="textbox 228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通知父进程子进程已退</a:t>
              </a:r>
              <a:r>
                <a:rPr sz="1400" kern="0" spc="-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出（</a:t>
              </a:r>
              <a:r>
                <a:rPr sz="1400" kern="0" spc="-17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300" kern="0" spc="-1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</a:t>
              </a:r>
              <a:r>
                <a:rPr sz="1400" kern="0" spc="-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230" name="picture 23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232" name="textbox 232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12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7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2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234" name="picture 2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236" name="textbox 236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通知父进程子进程已退出（</a:t>
              </a:r>
              <a:r>
                <a:rPr sz="1300" kern="0" spc="1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</a:t>
              </a: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238" name="picture 2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240" name="textbox 240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8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  <p:sp>
        <p:nvSpPr>
          <p:cNvPr id="242" name="textbox 242"/>
          <p:cNvSpPr/>
          <p:nvPr/>
        </p:nvSpPr>
        <p:spPr>
          <a:xfrm>
            <a:off x="268465" y="1229219"/>
            <a:ext cx="299656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ts val="1256"/>
              </a:lnSpc>
              <a:tabLst>
                <a:tab pos="17272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问题：为什么我们需要用互斥锁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来保护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302308"/>
            <a:ext cx="65201" cy="652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box 246"/>
          <p:cNvSpPr/>
          <p:nvPr/>
        </p:nvSpPr>
        <p:spPr>
          <a:xfrm>
            <a:off x="268465" y="1229219"/>
            <a:ext cx="3821429" cy="1078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ts val="1256"/>
              </a:lnSpc>
              <a:tabLst>
                <a:tab pos="17272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问题：为什么我们需要用互斥锁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来保护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329" indent="-276859" algn="l" rtl="0" eaLnBrk="0">
              <a:lnSpc>
                <a:spcPct val="105000"/>
              </a:lnSpc>
              <a:spcBef>
                <a:spcPts val="870"/>
              </a:spcBef>
              <a:tabLst>
                <a:tab pos="162560" algn="l"/>
                <a:tab pos="44386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互斥锁 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允许一个线程访问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8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以防止遗漏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的更新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父进程读取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==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false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但被中断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105000"/>
              </a:lnSpc>
              <a:spcBef>
                <a:spcPts val="55"/>
              </a:spcBef>
              <a:tabLst>
                <a:tab pos="436880" algn="l"/>
                <a:tab pos="44386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子进程设置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=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true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并发出信号，但没有任何线程在等待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父进程继续并进入睡眠（永远）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ts val="1386"/>
              </a:lnSpc>
              <a:spcBef>
                <a:spcPts val="58"/>
              </a:spcBef>
              <a:tabLst>
                <a:tab pos="17208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因此，在等待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唤醒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同步时需要锁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8" name="picture 2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2187994"/>
            <a:ext cx="65201" cy="65201"/>
          </a:xfrm>
          <a:prstGeom prst="rect">
            <a:avLst/>
          </a:prstGeom>
        </p:spPr>
      </p:pic>
      <p:pic>
        <p:nvPicPr>
          <p:cNvPr id="250" name="picture 2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915" y="2028596"/>
            <a:ext cx="52527" cy="52527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915" y="1876755"/>
            <a:ext cx="52527" cy="52527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915" y="1724926"/>
            <a:ext cx="52527" cy="52527"/>
          </a:xfrm>
          <a:prstGeom prst="rect">
            <a:avLst/>
          </a:prstGeom>
        </p:spPr>
      </p:pic>
      <p:pic>
        <p:nvPicPr>
          <p:cNvPr id="256" name="picture 2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560423"/>
            <a:ext cx="65201" cy="65201"/>
          </a:xfrm>
          <a:prstGeom prst="rect">
            <a:avLst/>
          </a:prstGeom>
        </p:spPr>
      </p:pic>
      <p:pic>
        <p:nvPicPr>
          <p:cNvPr id="258" name="picture 2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165" y="1302308"/>
            <a:ext cx="65201" cy="65201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260" name="picture 26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262" name="textbox 262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通知父进程子进程已退出（</a:t>
              </a:r>
              <a:r>
                <a:rPr sz="1300" kern="0" spc="1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</a:t>
              </a: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264" name="picture 26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266" name="textbox 266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10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8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box 268"/>
          <p:cNvSpPr/>
          <p:nvPr/>
        </p:nvSpPr>
        <p:spPr>
          <a:xfrm>
            <a:off x="268465" y="1091690"/>
            <a:ext cx="4214495" cy="835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ts val="1386"/>
              </a:lnSpc>
              <a:tabLst>
                <a:tab pos="16446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生产者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消费者是一种常见的编程模式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ts val="1339"/>
              </a:lnSpc>
              <a:spcBef>
                <a:spcPts val="16"/>
              </a:spcBef>
              <a:tabLst>
                <a:tab pos="15557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例如：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map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（生产者）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 reduce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消费者）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329" indent="-276859" algn="l" rtl="0" eaLnBrk="0">
              <a:lnSpc>
                <a:spcPct val="105000"/>
              </a:lnSpc>
              <a:spcBef>
                <a:spcPts val="107"/>
              </a:spcBef>
              <a:tabLst>
                <a:tab pos="155575" algn="l"/>
                <a:tab pos="43370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例如：</a:t>
            </a:r>
            <a:r>
              <a:rPr sz="10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并发数据库（消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费者） 处理来自客户端（生产者） 的并行请求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客户端生成新请求（编码在队列中）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9000"/>
              </a:lnSpc>
              <a:spcBef>
                <a:spcPts val="176"/>
              </a:spcBef>
              <a:tabLst>
                <a:tab pos="43243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服务端处理这些请求（从队列中弹出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0" name="picture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0915" y="1834489"/>
            <a:ext cx="52527" cy="52527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915" y="1682661"/>
            <a:ext cx="52527" cy="52527"/>
          </a:xfrm>
          <a:prstGeom prst="rect">
            <a:avLst/>
          </a:prstGeom>
        </p:spPr>
      </p:pic>
      <p:pic>
        <p:nvPicPr>
          <p:cNvPr id="274" name="picture 2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1518158"/>
            <a:ext cx="65201" cy="65201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346085"/>
            <a:ext cx="65201" cy="65201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174013"/>
            <a:ext cx="65201" cy="65201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280" name="picture 28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282" name="textbox 282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3510" algn="l" rtl="0" eaLnBrk="0">
                <a:lnSpc>
                  <a:spcPts val="1823"/>
                </a:lnSpc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生产者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消费者同步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284" name="picture 28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286" name="textbox 286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9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9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288"/>
          <p:cNvSpPr/>
          <p:nvPr/>
        </p:nvSpPr>
        <p:spPr>
          <a:xfrm>
            <a:off x="268465" y="1091690"/>
            <a:ext cx="4214495" cy="1395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ts val="1386"/>
              </a:lnSpc>
              <a:tabLst>
                <a:tab pos="16446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生产者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消费者是一种常见的编程模式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ts val="1339"/>
              </a:lnSpc>
              <a:spcBef>
                <a:spcPts val="16"/>
              </a:spcBef>
              <a:tabLst>
                <a:tab pos="15557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例如：</a:t>
            </a:r>
            <a:r>
              <a:rPr sz="10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map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（生产者）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 reduce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消费者）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329" indent="-276859" algn="l" rtl="0" eaLnBrk="0">
              <a:lnSpc>
                <a:spcPct val="105000"/>
              </a:lnSpc>
              <a:spcBef>
                <a:spcPts val="107"/>
              </a:spcBef>
              <a:tabLst>
                <a:tab pos="155575" algn="l"/>
                <a:tab pos="43370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例如：</a:t>
            </a:r>
            <a:r>
              <a:rPr sz="10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并发数据库（消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费者） 处理来自客户端（生产者） 的并行请求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客户端生成新请求（编码在队列中）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9000"/>
              </a:lnSpc>
              <a:spcBef>
                <a:spcPts val="176"/>
              </a:spcBef>
              <a:tabLst>
                <a:tab pos="43243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服务端处理这些请求（从队列中弹出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87000"/>
              </a:lnSpc>
              <a:spcBef>
                <a:spcPts val="1026"/>
              </a:spcBef>
              <a:tabLst>
                <a:tab pos="16700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策略：使用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CV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进行同步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193"/>
              </a:spcBef>
              <a:tabLst>
                <a:tab pos="42862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如果缓冲区已满，则使生产者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45"/>
              </a:spcBef>
              <a:tabLst>
                <a:tab pos="42862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如果缓冲区为空（没有需处理请求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则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使消费者等待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0" name="picture 2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0915" y="2396274"/>
            <a:ext cx="52527" cy="52527"/>
          </a:xfrm>
          <a:prstGeom prst="rect">
            <a:avLst/>
          </a:prstGeom>
        </p:spPr>
      </p:pic>
      <p:pic>
        <p:nvPicPr>
          <p:cNvPr id="292" name="picture 2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915" y="2244432"/>
            <a:ext cx="52527" cy="52527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2079930"/>
            <a:ext cx="65201" cy="65201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915" y="1834489"/>
            <a:ext cx="52527" cy="52527"/>
          </a:xfrm>
          <a:prstGeom prst="rect">
            <a:avLst/>
          </a:prstGeom>
        </p:spPr>
      </p:pic>
      <p:pic>
        <p:nvPicPr>
          <p:cNvPr id="298" name="picture 2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70915" y="1682661"/>
            <a:ext cx="52527" cy="52527"/>
          </a:xfrm>
          <a:prstGeom prst="rect">
            <a:avLst/>
          </a:prstGeom>
        </p:spPr>
      </p:pic>
      <p:pic>
        <p:nvPicPr>
          <p:cNvPr id="300" name="picture 3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165" y="1518158"/>
            <a:ext cx="65201" cy="65201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81165" y="1346085"/>
            <a:ext cx="65201" cy="65201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81165" y="1174013"/>
            <a:ext cx="65201" cy="65201"/>
          </a:xfrm>
          <a:prstGeom prst="rect">
            <a:avLst/>
          </a:prstGeom>
        </p:spPr>
      </p:pic>
      <p:grpSp>
        <p:nvGrpSpPr>
          <p:cNvPr id="64" name="group 64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306" name="picture 30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308" name="textbox 308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3510" algn="l" rtl="0" eaLnBrk="0">
                <a:lnSpc>
                  <a:spcPts val="1823"/>
                </a:lnSpc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生产者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消费者同步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310" name="picture 31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312" name="textbox 312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12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9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8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314" name="picture 3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316" name="textbox 316"/>
            <p:cNvSpPr/>
            <p:nvPr/>
          </p:nvSpPr>
          <p:spPr>
            <a:xfrm>
              <a:off x="-12700" y="-12700"/>
              <a:ext cx="4633595" cy="536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1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0" algn="l" rtl="0" eaLnBrk="0">
                <a:lnSpc>
                  <a:spcPct val="87000"/>
                </a:lnSpc>
                <a:tabLst/>
              </a:pPr>
              <a:r>
                <a:rPr sz="1400" kern="0" spc="-2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条件变量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18" name="textbox 318"/>
          <p:cNvSpPr/>
          <p:nvPr/>
        </p:nvSpPr>
        <p:spPr>
          <a:xfrm>
            <a:off x="268465" y="1470747"/>
            <a:ext cx="2703195" cy="503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105000"/>
              </a:lnSpc>
              <a:tabLst>
                <a:tab pos="151764" algn="l"/>
                <a:tab pos="15621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	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CV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允许访问具有线程等待队列的关键部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每次持有锁时都要等待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唤醒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88000"/>
              </a:lnSpc>
              <a:spcBef>
                <a:spcPts val="191"/>
              </a:spcBef>
              <a:tabLst>
                <a:tab pos="16446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线程唤醒时始终重新检查状态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1864271"/>
            <a:ext cx="65201" cy="65201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1692198"/>
            <a:ext cx="65201" cy="65201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520126"/>
            <a:ext cx="65201" cy="65201"/>
          </a:xfrm>
          <a:prstGeom prst="rect">
            <a:avLst/>
          </a:prstGeom>
        </p:spPr>
      </p:pic>
      <p:grpSp>
        <p:nvGrpSpPr>
          <p:cNvPr id="70" name="group 70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326" name="picture 3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328" name="textbox 32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7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10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box 330"/>
          <p:cNvSpPr/>
          <p:nvPr/>
        </p:nvSpPr>
        <p:spPr>
          <a:xfrm>
            <a:off x="268465" y="1195123"/>
            <a:ext cx="4213859" cy="1196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8000"/>
              </a:lnSpc>
              <a:tabLst>
                <a:tab pos="15811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扩展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CV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与整数计数相结合，构造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一个信号量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47954" indent="-70485" algn="l" rtl="0" eaLnBrk="0">
              <a:lnSpc>
                <a:spcPct val="110000"/>
              </a:lnSpc>
              <a:spcBef>
                <a:spcPts val="125"/>
              </a:spcBef>
              <a:tabLst>
                <a:tab pos="15557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  sem_init(sem_t  *sem,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unsigned  int  value)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: 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创建一个具有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个插槽的新信号量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55575" indent="-78105" algn="l" rtl="0" eaLnBrk="0">
              <a:lnSpc>
                <a:spcPct val="108000"/>
              </a:lnSpc>
              <a:spcBef>
                <a:spcPts val="78"/>
              </a:spcBef>
              <a:tabLst>
                <a:tab pos="15557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wait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_t  *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: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等待直到信号量至少有一个插槽，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减少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插槽数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110000"/>
              </a:lnSpc>
              <a:spcBef>
                <a:spcPts val="96"/>
              </a:spcBef>
              <a:tabLst>
                <a:tab pos="15557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post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_t  *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: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增加信号量（并唤醒一个等待的线程）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destroy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_t  *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: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销毁信号量并释放任何等待的线程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2276259"/>
            <a:ext cx="65201" cy="65201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2104186"/>
            <a:ext cx="65201" cy="65201"/>
          </a:xfrm>
          <a:prstGeom prst="rect">
            <a:avLst/>
          </a:prstGeom>
        </p:spPr>
      </p:pic>
      <p:pic>
        <p:nvPicPr>
          <p:cNvPr id="336" name="picture 3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1760042"/>
            <a:ext cx="65201" cy="65201"/>
          </a:xfrm>
          <a:prstGeom prst="rect">
            <a:avLst/>
          </a:prstGeom>
        </p:spPr>
      </p:pic>
      <p:pic>
        <p:nvPicPr>
          <p:cNvPr id="338" name="picture 3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415884"/>
            <a:ext cx="65201" cy="65201"/>
          </a:xfrm>
          <a:prstGeom prst="rect">
            <a:avLst/>
          </a:prstGeom>
        </p:spPr>
      </p:pic>
      <p:pic>
        <p:nvPicPr>
          <p:cNvPr id="340" name="picture 3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243812"/>
            <a:ext cx="65201" cy="65201"/>
          </a:xfrm>
          <a:prstGeom prst="rect">
            <a:avLst/>
          </a:prstGeom>
        </p:spPr>
      </p:pic>
      <p:grpSp>
        <p:nvGrpSpPr>
          <p:cNvPr id="72" name="group 72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342" name="picture 34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344" name="textbox 344"/>
            <p:cNvSpPr/>
            <p:nvPr/>
          </p:nvSpPr>
          <p:spPr>
            <a:xfrm>
              <a:off x="-12700" y="-12700"/>
              <a:ext cx="4633595" cy="5461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6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8904" algn="l" rtl="0" eaLnBrk="0">
                <a:lnSpc>
                  <a:spcPct val="87000"/>
                </a:lnSpc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信号量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346" name="picture 34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348" name="textbox 34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9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11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6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350" name="picture 3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352" name="textbox 352"/>
            <p:cNvSpPr/>
            <p:nvPr/>
          </p:nvSpPr>
          <p:spPr>
            <a:xfrm>
              <a:off x="-12700" y="-12700"/>
              <a:ext cx="4633595" cy="532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064" algn="l" rtl="0" eaLnBrk="0">
                <a:lnSpc>
                  <a:spcPct val="88000"/>
                </a:lnSpc>
                <a:tabLst/>
              </a:pP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并发编程：生产者消费者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54" name="textbox 354"/>
          <p:cNvSpPr/>
          <p:nvPr/>
        </p:nvSpPr>
        <p:spPr>
          <a:xfrm>
            <a:off x="268465" y="1252960"/>
            <a:ext cx="3332479" cy="344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108000"/>
              </a:lnSpc>
              <a:tabLst>
                <a:tab pos="16192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一个或多个生产者创建条目，将它们存储在缓冲区中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一个或多个消费者从缓冲区中处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理条目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6" name="picture 3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1476756"/>
            <a:ext cx="65201" cy="65201"/>
          </a:xfrm>
          <a:prstGeom prst="rect">
            <a:avLst/>
          </a:prstGeom>
        </p:spPr>
      </p:pic>
      <p:pic>
        <p:nvPicPr>
          <p:cNvPr id="358" name="picture 3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1304683"/>
            <a:ext cx="65201" cy="65201"/>
          </a:xfrm>
          <a:prstGeom prst="rect">
            <a:avLst/>
          </a:prstGeom>
        </p:spPr>
      </p:pic>
      <p:grpSp>
        <p:nvGrpSpPr>
          <p:cNvPr id="78" name="group 78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360" name="picture 36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362" name="textbox 362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6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12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box 364"/>
          <p:cNvSpPr/>
          <p:nvPr/>
        </p:nvSpPr>
        <p:spPr>
          <a:xfrm>
            <a:off x="268465" y="1252960"/>
            <a:ext cx="3332479" cy="1044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108000"/>
              </a:lnSpc>
              <a:tabLst>
                <a:tab pos="16192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一个或多个生产者创建条目，将它们存储在缓冲区中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一个或多个消费者从缓冲区中处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理条目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87000"/>
              </a:lnSpc>
              <a:spcBef>
                <a:spcPts val="898"/>
              </a:spcBef>
              <a:tabLst>
                <a:tab pos="16002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缓冲区需要同步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08"/>
              </a:spcBef>
              <a:tabLst>
                <a:tab pos="43560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希望并发生产和消费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53"/>
              </a:spcBef>
              <a:tabLst>
                <a:tab pos="43116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使用尽可能多的处理器核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63"/>
              </a:spcBef>
              <a:tabLst>
                <a:tab pos="43560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将对共享数据结构的访问时间最小化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6" name="picture 3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0915" y="2203031"/>
            <a:ext cx="52527" cy="52527"/>
          </a:xfrm>
          <a:prstGeom prst="rect">
            <a:avLst/>
          </a:prstGeom>
        </p:spPr>
      </p:pic>
      <p:pic>
        <p:nvPicPr>
          <p:cNvPr id="368" name="picture 3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915" y="2051202"/>
            <a:ext cx="52527" cy="52527"/>
          </a:xfrm>
          <a:prstGeom prst="rect">
            <a:avLst/>
          </a:prstGeom>
        </p:spPr>
      </p:pic>
      <p:pic>
        <p:nvPicPr>
          <p:cNvPr id="370" name="picture 3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915" y="1899373"/>
            <a:ext cx="52527" cy="52527"/>
          </a:xfrm>
          <a:prstGeom prst="rect">
            <a:avLst/>
          </a:prstGeom>
        </p:spPr>
      </p:pic>
      <p:pic>
        <p:nvPicPr>
          <p:cNvPr id="372" name="picture 3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734870"/>
            <a:ext cx="65201" cy="65201"/>
          </a:xfrm>
          <a:prstGeom prst="rect">
            <a:avLst/>
          </a:prstGeom>
        </p:spPr>
      </p:pic>
      <p:pic>
        <p:nvPicPr>
          <p:cNvPr id="374" name="picture 3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476756"/>
            <a:ext cx="65201" cy="65201"/>
          </a:xfrm>
          <a:prstGeom prst="rect">
            <a:avLst/>
          </a:prstGeom>
        </p:spPr>
      </p:pic>
      <p:pic>
        <p:nvPicPr>
          <p:cNvPr id="376" name="picture 3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165" y="1304683"/>
            <a:ext cx="65201" cy="65201"/>
          </a:xfrm>
          <a:prstGeom prst="rect">
            <a:avLst/>
          </a:prstGeom>
        </p:spPr>
      </p:pic>
      <p:grpSp>
        <p:nvGrpSpPr>
          <p:cNvPr id="80" name="group 80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378" name="picture 37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380" name="textbox 380"/>
            <p:cNvSpPr/>
            <p:nvPr/>
          </p:nvSpPr>
          <p:spPr>
            <a:xfrm>
              <a:off x="-12700" y="-12700"/>
              <a:ext cx="4633595" cy="532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064" algn="l" rtl="0" eaLnBrk="0">
                <a:lnSpc>
                  <a:spcPct val="88000"/>
                </a:lnSpc>
                <a:tabLst/>
              </a:pP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并发编程：生产者消费者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382" name="picture 38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384" name="textbox 38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10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12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box 386"/>
          <p:cNvSpPr/>
          <p:nvPr/>
        </p:nvSpPr>
        <p:spPr>
          <a:xfrm>
            <a:off x="128438" y="657061"/>
            <a:ext cx="3963034" cy="2553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6000"/>
              </a:lnSpc>
              <a:tabLst/>
            </a:pP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ducer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arg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6000"/>
              </a:lnSpc>
              <a:spcBef>
                <a:spcPts val="433"/>
              </a:spcBef>
              <a:tabLst/>
            </a:pP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   </a:t>
            </a:r>
            <a:r>
              <a:rPr sz="800" kern="0" spc="16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800" kern="0" spc="8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++)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8000"/>
              </a:lnSpc>
              <a:spcBef>
                <a:spcPts val="436"/>
              </a:spcBef>
              <a:tabLst/>
            </a:pPr>
            <a:r>
              <a:rPr sz="800" kern="0" spc="2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8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put</a:t>
            </a:r>
            <a:r>
              <a:rPr sz="800" kern="0" spc="2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2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22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//</a:t>
            </a:r>
            <a:r>
              <a:rPr sz="800" kern="0" spc="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存储在共享缓冲区中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2000"/>
              </a:lnSpc>
              <a:spcBef>
                <a:spcPts val="190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1000"/>
              </a:lnSpc>
              <a:spcBef>
                <a:spcPts val="508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0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return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NULL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6000"/>
              </a:lnSpc>
              <a:spcBef>
                <a:spcPts val="473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consumer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</a:t>
            </a:r>
            <a:r>
              <a:rPr sz="800" kern="0" spc="13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arg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6000"/>
              </a:lnSpc>
              <a:spcBef>
                <a:spcPts val="433"/>
              </a:spcBef>
              <a:tabLst/>
            </a:pP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  </a:t>
            </a:r>
            <a:r>
              <a:rPr sz="800" kern="0" spc="16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800" kern="0" spc="8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++)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8000"/>
              </a:lnSpc>
              <a:spcBef>
                <a:spcPts val="426"/>
              </a:spcBef>
              <a:tabLst/>
            </a:pPr>
            <a:r>
              <a:rPr sz="800" kern="0" spc="2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8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printf</a:t>
            </a:r>
            <a:r>
              <a:rPr sz="800" kern="0" spc="2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-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800" kern="0" spc="19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%d\n</a:t>
            </a:r>
            <a:r>
              <a:rPr sz="800" kern="0" spc="-11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9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800" kern="0" spc="-3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get</a:t>
            </a:r>
            <a:r>
              <a:rPr sz="800" kern="0" spc="1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800" kern="0" spc="1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));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9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//</a:t>
            </a:r>
            <a:r>
              <a:rPr sz="800" kern="0" spc="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从缓冲区接收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20320" algn="l" rtl="0" eaLnBrk="0">
              <a:lnSpc>
                <a:spcPct val="92000"/>
              </a:lnSpc>
              <a:spcBef>
                <a:spcPts val="200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1000"/>
              </a:lnSpc>
              <a:spcBef>
                <a:spcPts val="508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    </a:t>
            </a:r>
            <a:r>
              <a:rPr sz="800" kern="0" spc="10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return</a:t>
            </a:r>
            <a:r>
              <a:rPr sz="800" kern="0" spc="7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NUL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4000"/>
              </a:lnSpc>
              <a:spcBef>
                <a:spcPts val="479"/>
              </a:spcBef>
              <a:tabLst/>
            </a:pP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pthread_t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134000"/>
              </a:lnSpc>
              <a:spcBef>
                <a:spcPts val="161"/>
              </a:spcBef>
              <a:tabLst/>
            </a:pP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pthread_cre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ate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8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 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NULL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producer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  (</a:t>
            </a:r>
            <a:r>
              <a:rPr sz="800" kern="0" spc="11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*)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NUMITEMS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pthread_create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8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 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NULL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consumer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(</a:t>
            </a:r>
            <a:r>
              <a:rPr sz="800" kern="0" spc="10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*)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NUMITEMS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84" name="group 84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388" name="picture 38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390" name="textbox 390"/>
            <p:cNvSpPr/>
            <p:nvPr/>
          </p:nvSpPr>
          <p:spPr>
            <a:xfrm>
              <a:off x="-12700" y="-12700"/>
              <a:ext cx="4633595" cy="532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064" algn="l" rtl="0" eaLnBrk="0">
                <a:lnSpc>
                  <a:spcPct val="88000"/>
                </a:lnSpc>
                <a:tabLst/>
              </a:pP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并发编程：生产者消费者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392" name="picture 39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394" name="textbox 39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13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box 396"/>
          <p:cNvSpPr/>
          <p:nvPr/>
        </p:nvSpPr>
        <p:spPr>
          <a:xfrm>
            <a:off x="128438" y="657887"/>
            <a:ext cx="2740025" cy="2125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6000"/>
              </a:lnSpc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buffer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BUFSIZE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{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6000"/>
              </a:lnSpc>
              <a:spcBef>
                <a:spcPts val="433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0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  int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cpos  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-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  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6000"/>
              </a:lnSpc>
              <a:spcBef>
                <a:spcPts val="433"/>
              </a:spcBef>
              <a:tabLst/>
            </a:pP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put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30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buffer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    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UFSIZE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-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6000"/>
              </a:lnSpc>
              <a:spcBef>
                <a:spcPts val="473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get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6000"/>
              </a:lnSpc>
              <a:spcBef>
                <a:spcPts val="433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  long</a:t>
            </a:r>
            <a:r>
              <a:rPr sz="800" kern="0" spc="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buffe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cpos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];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5000"/>
              </a:lnSpc>
              <a:spcBef>
                <a:spcPts val="430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 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%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BUFSIZE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4000"/>
              </a:lnSpc>
              <a:spcBef>
                <a:spcPts val="453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4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return</a:t>
            </a:r>
            <a:r>
              <a:rPr sz="800" kern="0" spc="6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这段代码存在什么问题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88" name="group 88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398" name="picture 39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400" name="textbox 400"/>
            <p:cNvSpPr/>
            <p:nvPr/>
          </p:nvSpPr>
          <p:spPr>
            <a:xfrm>
              <a:off x="-12700" y="-12700"/>
              <a:ext cx="4633595" cy="532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064" algn="l" rtl="0" eaLnBrk="0">
                <a:lnSpc>
                  <a:spcPct val="88000"/>
                </a:lnSpc>
                <a:tabLst/>
              </a:pP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并发编程：生产者消费者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402" name="picture 4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404" name="textbox 40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14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box 406"/>
          <p:cNvSpPr/>
          <p:nvPr/>
        </p:nvSpPr>
        <p:spPr>
          <a:xfrm>
            <a:off x="128438" y="657887"/>
            <a:ext cx="2740025" cy="2555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6000"/>
              </a:lnSpc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buffer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BUFSIZE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{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6000"/>
              </a:lnSpc>
              <a:spcBef>
                <a:spcPts val="433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0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  int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cpos  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-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  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6000"/>
              </a:lnSpc>
              <a:spcBef>
                <a:spcPts val="433"/>
              </a:spcBef>
              <a:tabLst/>
            </a:pP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put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30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buffer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    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UFSIZE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-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6000"/>
              </a:lnSpc>
              <a:spcBef>
                <a:spcPts val="473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get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6000"/>
              </a:lnSpc>
              <a:spcBef>
                <a:spcPts val="433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   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  long</a:t>
            </a:r>
            <a:r>
              <a:rPr sz="800" kern="0" spc="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buffe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cpos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];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5000"/>
              </a:lnSpc>
              <a:spcBef>
                <a:spcPts val="430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 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%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BUFSIZE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4000"/>
              </a:lnSpc>
              <a:spcBef>
                <a:spcPts val="453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4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return</a:t>
            </a:r>
            <a:r>
              <a:rPr sz="800" kern="0" spc="6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88000"/>
              </a:lnSpc>
              <a:spcBef>
                <a:spcPts val="1047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这段代码存在什么问题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217804" algn="l" rtl="0" eaLnBrk="0">
              <a:lnSpc>
                <a:spcPct val="88000"/>
              </a:lnSpc>
              <a:spcBef>
                <a:spcPts val="965"/>
              </a:spcBef>
              <a:tabLst>
                <a:tab pos="30480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生产者可能覆盖未消费的条目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217804" algn="l" rtl="0" eaLnBrk="0">
              <a:lnSpc>
                <a:spcPct val="89000"/>
              </a:lnSpc>
              <a:spcBef>
                <a:spcPts val="291"/>
              </a:spcBef>
              <a:tabLst>
                <a:tab pos="30734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消费者可能消耗未初始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化或过期的条目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8" name="picture 4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3103816"/>
            <a:ext cx="65201" cy="65201"/>
          </a:xfrm>
          <a:prstGeom prst="rect">
            <a:avLst/>
          </a:prstGeom>
        </p:spPr>
      </p:pic>
      <p:pic>
        <p:nvPicPr>
          <p:cNvPr id="410" name="picture 4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2931744"/>
            <a:ext cx="65201" cy="65201"/>
          </a:xfrm>
          <a:prstGeom prst="rect">
            <a:avLst/>
          </a:prstGeom>
        </p:spPr>
      </p:pic>
      <p:grpSp>
        <p:nvGrpSpPr>
          <p:cNvPr id="92" name="group 92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412" name="picture 4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414" name="textbox 414"/>
            <p:cNvSpPr/>
            <p:nvPr/>
          </p:nvSpPr>
          <p:spPr>
            <a:xfrm>
              <a:off x="-12700" y="-12700"/>
              <a:ext cx="4633595" cy="5327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064" algn="l" rtl="0" eaLnBrk="0">
                <a:lnSpc>
                  <a:spcPct val="88000"/>
                </a:lnSpc>
                <a:tabLst/>
              </a:pP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并发编程：生产者消费者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416" name="picture 4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418" name="textbox 41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6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14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box 420"/>
          <p:cNvSpPr/>
          <p:nvPr/>
        </p:nvSpPr>
        <p:spPr>
          <a:xfrm>
            <a:off x="127648" y="1217169"/>
            <a:ext cx="2459989" cy="1164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7000"/>
              </a:lnSpc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sem_t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csem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psem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37"/>
              </a:spcBef>
              <a:tabLst/>
            </a:pPr>
            <a:r>
              <a:rPr sz="800" kern="0" spc="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  </a:t>
            </a:r>
            <a:r>
              <a:rPr sz="1100" kern="0" spc="8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生产者可以创建</a:t>
            </a:r>
            <a:r>
              <a:rPr sz="1100" kern="0" spc="28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BUFSIZE</a:t>
            </a:r>
            <a:r>
              <a:rPr sz="800" kern="0" spc="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7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7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个条目  </a:t>
            </a:r>
            <a:r>
              <a:rPr sz="800" kern="0" spc="7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95000"/>
              </a:lnSpc>
              <a:spcBef>
                <a:spcPts val="180"/>
              </a:spcBef>
              <a:tabLst/>
            </a:pP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sem_init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psem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-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BUFSIZE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36"/>
              </a:spcBef>
              <a:tabLst/>
            </a:pPr>
            <a:r>
              <a:rPr sz="800" kern="0" spc="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  </a:t>
            </a:r>
            <a:r>
              <a:rPr sz="1100" kern="0" spc="8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消费者可用条目为</a:t>
            </a:r>
            <a:r>
              <a:rPr sz="1100" kern="0" spc="26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95000"/>
              </a:lnSpc>
              <a:spcBef>
                <a:spcPts val="180"/>
              </a:spcBef>
              <a:tabLst/>
            </a:pP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sem_init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csem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-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96" name="group 96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422" name="picture 4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424" name="textbox 424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3510" algn="l" rtl="0" eaLnBrk="0">
                <a:lnSpc>
                  <a:spcPts val="1823"/>
                </a:lnSpc>
                <a:tabLst/>
              </a:pPr>
              <a:r>
                <a:rPr sz="1400" kern="0" spc="-5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生产者</a:t>
              </a:r>
              <a:r>
                <a:rPr sz="1300" kern="0" spc="-5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400" kern="0" spc="-5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消费者：使</a:t>
              </a:r>
              <a:r>
                <a:rPr sz="1400" kern="0" spc="-6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用信号量！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426" name="picture 4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428" name="textbox 42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extbox 430"/>
          <p:cNvSpPr/>
          <p:nvPr/>
        </p:nvSpPr>
        <p:spPr>
          <a:xfrm>
            <a:off x="128438" y="933756"/>
            <a:ext cx="2828289" cy="1858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6000"/>
              </a:lnSpc>
              <a:tabLst/>
            </a:pP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put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8000"/>
              </a:lnSpc>
              <a:spcBef>
                <a:spcPts val="450"/>
              </a:spcBef>
              <a:tabLst/>
            </a:pPr>
            <a:r>
              <a:rPr sz="800" kern="0" spc="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6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  </a:t>
            </a:r>
            <a:r>
              <a:rPr sz="1100" kern="0" spc="6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我们等待，直到缓冲区有空间可用</a:t>
            </a:r>
            <a:r>
              <a:rPr sz="1100" kern="0" spc="32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6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800" kern="0" spc="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indent="5080" algn="l" rtl="0" eaLnBrk="0">
              <a:lnSpc>
                <a:spcPct val="118000"/>
              </a:lnSpc>
              <a:spcBef>
                <a:spcPts val="179"/>
              </a:spcBef>
              <a:tabLst/>
            </a:pP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sem_wait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em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</a:t>
            </a:r>
            <a:r>
              <a:rPr sz="800" kern="0" spc="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8000"/>
              </a:lnSpc>
              <a:spcBef>
                <a:spcPts val="457"/>
              </a:spcBef>
              <a:tabLst/>
            </a:pPr>
            <a:r>
              <a:rPr sz="800" kern="0" spc="8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  </a:t>
            </a:r>
            <a:r>
              <a:rPr sz="1100" kern="0" spc="8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在缓冲区</a:t>
            </a:r>
            <a:r>
              <a:rPr sz="1100" kern="0" spc="7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中存储元素</a:t>
            </a:r>
            <a:r>
              <a:rPr sz="1100" kern="0" spc="32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7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spcBef>
                <a:spcPts val="174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buffer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indent="1270" algn="l" rtl="0" eaLnBrk="0">
              <a:lnSpc>
                <a:spcPct val="119000"/>
              </a:lnSpc>
              <a:spcBef>
                <a:spcPts val="440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    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UFSIZE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spcBef>
                <a:spcPts val="455"/>
              </a:spcBef>
              <a:tabLst/>
            </a:pPr>
            <a:r>
              <a:rPr sz="800" kern="0" spc="8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  </a:t>
            </a:r>
            <a:r>
              <a:rPr sz="1100" kern="0" spc="8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通知消费者数据</a:t>
            </a:r>
            <a:r>
              <a:rPr sz="1100" kern="0" spc="7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可用</a:t>
            </a:r>
            <a:r>
              <a:rPr sz="1100" kern="0" spc="33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7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spcBef>
                <a:spcPts val="180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 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sem_po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csem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100" name="group 100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432" name="picture 4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434" name="textbox 434"/>
            <p:cNvSpPr/>
            <p:nvPr/>
          </p:nvSpPr>
          <p:spPr>
            <a:xfrm>
              <a:off x="-12700" y="-12700"/>
              <a:ext cx="4633595" cy="5321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43510" algn="l" rtl="0" eaLnBrk="0">
                <a:lnSpc>
                  <a:spcPct val="88000"/>
                </a:lnSpc>
                <a:spcBef>
                  <a:spcPts val="7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生产者：信号量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436" name="picture 4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438" name="textbox 43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16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box 440"/>
          <p:cNvSpPr/>
          <p:nvPr/>
        </p:nvSpPr>
        <p:spPr>
          <a:xfrm>
            <a:off x="128438" y="864922"/>
            <a:ext cx="2536189" cy="2030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6000"/>
              </a:lnSpc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get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8000"/>
              </a:lnSpc>
              <a:spcBef>
                <a:spcPts val="445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7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  </a:t>
            </a:r>
            <a:r>
              <a:rPr sz="1100" kern="0" spc="7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等待直到有数据被生产</a:t>
            </a:r>
            <a:r>
              <a:rPr sz="1100" kern="0" spc="29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7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indent="5080" algn="l" rtl="0" eaLnBrk="0">
              <a:lnSpc>
                <a:spcPct val="118000"/>
              </a:lnSpc>
              <a:spcBef>
                <a:spcPts val="184"/>
              </a:spcBef>
              <a:tabLst/>
            </a:pP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sem_wait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csem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</a:t>
            </a:r>
            <a:r>
              <a:rPr sz="800" kern="0" spc="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463"/>
              </a:spcBef>
              <a:tabLst/>
            </a:pPr>
            <a:r>
              <a:rPr sz="800" kern="0" spc="8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      </a:t>
            </a:r>
            <a:r>
              <a:rPr sz="800" kern="0" spc="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</a:t>
            </a:r>
            <a:r>
              <a:rPr sz="800" kern="0" spc="6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8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消费者入口</a:t>
            </a:r>
            <a:r>
              <a:rPr sz="1100" kern="0" spc="29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spcBef>
                <a:spcPts val="185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   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  long</a:t>
            </a:r>
            <a:r>
              <a:rPr sz="800" kern="0" spc="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buffer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cpos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];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indent="1270" algn="l" rtl="0" eaLnBrk="0">
              <a:lnSpc>
                <a:spcPct val="119000"/>
              </a:lnSpc>
              <a:spcBef>
                <a:spcPts val="426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    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cpos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%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BUFSIZ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8000"/>
              </a:lnSpc>
              <a:spcBef>
                <a:spcPts val="450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7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  </a:t>
            </a:r>
            <a:r>
              <a:rPr sz="1100" kern="0" spc="7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通知生产者有空间释放</a:t>
            </a:r>
            <a:r>
              <a:rPr sz="1100" kern="0" spc="6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出来</a:t>
            </a:r>
            <a:r>
              <a:rPr sz="1100" kern="0" spc="32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6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spcBef>
                <a:spcPts val="172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   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sem_post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psem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4000"/>
              </a:lnSpc>
              <a:spcBef>
                <a:spcPts val="453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4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return</a:t>
            </a:r>
            <a:r>
              <a:rPr sz="800" kern="0" spc="6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104" name="group 104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442" name="picture 4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444" name="textbox 444"/>
            <p:cNvSpPr/>
            <p:nvPr/>
          </p:nvSpPr>
          <p:spPr>
            <a:xfrm>
              <a:off x="-12700" y="-12700"/>
              <a:ext cx="4633595" cy="5340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60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7320" algn="l" rtl="0" eaLnBrk="0">
                <a:lnSpc>
                  <a:spcPct val="87000"/>
                </a:lnSpc>
                <a:tabLst/>
              </a:pPr>
              <a:r>
                <a:rPr sz="1400" kern="0" spc="-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消费者：信号量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446" name="picture 4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448" name="textbox 44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17</a:t>
              </a:r>
              <a:r>
                <a:rPr sz="500" kern="0" spc="3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8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450" name="picture 4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452" name="textbox 452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3510" algn="l" rtl="0" eaLnBrk="0">
                <a:lnSpc>
                  <a:spcPts val="1823"/>
                </a:lnSpc>
                <a:tabLst/>
              </a:pPr>
              <a:r>
                <a:rPr sz="1400" kern="0" spc="-5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生产者</a:t>
              </a:r>
              <a:r>
                <a:rPr sz="1300" kern="0" spc="-5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400" kern="0" spc="-5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消费者：剩余问题？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454" name="textbox 454"/>
          <p:cNvSpPr/>
          <p:nvPr/>
        </p:nvSpPr>
        <p:spPr>
          <a:xfrm>
            <a:off x="268465" y="1300263"/>
            <a:ext cx="2642870" cy="480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19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4329" indent="-276859" algn="l" rtl="0" eaLnBrk="0">
              <a:lnSpc>
                <a:spcPct val="111000"/>
              </a:lnSpc>
              <a:tabLst>
                <a:tab pos="160020" algn="l"/>
                <a:tab pos="44005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我们现在在消费者和生产者之间进行同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步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生产者等待直到缓冲区有空间可用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165"/>
              </a:spcBef>
              <a:tabLst>
                <a:tab pos="44259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消费者等待直到数据就绪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56" name="picture 4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915" y="1689697"/>
            <a:ext cx="52527" cy="52527"/>
          </a:xfrm>
          <a:prstGeom prst="rect">
            <a:avLst/>
          </a:prstGeom>
        </p:spPr>
      </p:pic>
      <p:pic>
        <p:nvPicPr>
          <p:cNvPr id="458" name="picture 4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915" y="1537868"/>
            <a:ext cx="52527" cy="52527"/>
          </a:xfrm>
          <a:prstGeom prst="rect">
            <a:avLst/>
          </a:prstGeom>
        </p:spPr>
      </p:pic>
      <p:pic>
        <p:nvPicPr>
          <p:cNvPr id="460" name="picture 4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373365"/>
            <a:ext cx="65201" cy="65201"/>
          </a:xfrm>
          <a:prstGeom prst="rect">
            <a:avLst/>
          </a:prstGeom>
        </p:spPr>
      </p:pic>
      <p:grpSp>
        <p:nvGrpSpPr>
          <p:cNvPr id="110" name="group 110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462" name="picture 46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464" name="textbox 46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7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18</a:t>
              </a:r>
              <a:r>
                <a:rPr sz="500" kern="0" spc="-3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box 466"/>
          <p:cNvSpPr/>
          <p:nvPr/>
        </p:nvSpPr>
        <p:spPr>
          <a:xfrm>
            <a:off x="268465" y="1300263"/>
            <a:ext cx="2704464" cy="890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19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4329" indent="-276859" algn="l" rtl="0" eaLnBrk="0">
              <a:lnSpc>
                <a:spcPct val="111000"/>
              </a:lnSpc>
              <a:tabLst>
                <a:tab pos="160020" algn="l"/>
                <a:tab pos="44005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我们现在在消费者和生产者之间进行同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步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生产者等待直到缓冲区有空间可用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165"/>
              </a:spcBef>
              <a:tabLst>
                <a:tab pos="44259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消费者等待直到数据就绪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ts val="1386"/>
              </a:lnSpc>
              <a:spcBef>
                <a:spcPts val="766"/>
              </a:spcBef>
              <a:tabLst>
                <a:tab pos="15176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如何处理多个生产者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消费者？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123"/>
              </a:spcBef>
              <a:tabLst>
                <a:tab pos="45910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目前没有生产者（或消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费者）之间的同步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68" name="picture 4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0915" y="2099640"/>
            <a:ext cx="52527" cy="52527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1935137"/>
            <a:ext cx="65201" cy="65201"/>
          </a:xfrm>
          <a:prstGeom prst="rect">
            <a:avLst/>
          </a:prstGeom>
        </p:spPr>
      </p:pic>
      <p:pic>
        <p:nvPicPr>
          <p:cNvPr id="472" name="picture 4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915" y="1689697"/>
            <a:ext cx="52527" cy="52527"/>
          </a:xfrm>
          <a:prstGeom prst="rect">
            <a:avLst/>
          </a:prstGeom>
        </p:spPr>
      </p:pic>
      <p:pic>
        <p:nvPicPr>
          <p:cNvPr id="474" name="picture 4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915" y="1537868"/>
            <a:ext cx="52527" cy="52527"/>
          </a:xfrm>
          <a:prstGeom prst="rect">
            <a:avLst/>
          </a:prstGeom>
        </p:spPr>
      </p:pic>
      <p:pic>
        <p:nvPicPr>
          <p:cNvPr id="476" name="picture 4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373365"/>
            <a:ext cx="65201" cy="65201"/>
          </a:xfrm>
          <a:prstGeom prst="rect">
            <a:avLst/>
          </a:prstGeom>
        </p:spPr>
      </p:pic>
      <p:grpSp>
        <p:nvGrpSpPr>
          <p:cNvPr id="112" name="group 112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478" name="picture 47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480" name="textbox 480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3510" algn="l" rtl="0" eaLnBrk="0">
                <a:lnSpc>
                  <a:spcPts val="1823"/>
                </a:lnSpc>
                <a:tabLst/>
              </a:pPr>
              <a:r>
                <a:rPr sz="1400" kern="0" spc="-5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生产者</a:t>
              </a:r>
              <a:r>
                <a:rPr sz="1300" kern="0" spc="-5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400" kern="0" spc="-5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消费者：剩余问题？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4" name="group 114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482" name="picture 48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484" name="textbox 48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9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18</a:t>
              </a:r>
              <a:r>
                <a:rPr sz="500" kern="0" spc="-3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extbox 486"/>
          <p:cNvSpPr/>
          <p:nvPr/>
        </p:nvSpPr>
        <p:spPr>
          <a:xfrm>
            <a:off x="127648" y="592206"/>
            <a:ext cx="3692525" cy="2716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800" kern="0" spc="9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  </a:t>
            </a:r>
            <a:r>
              <a:rPr sz="1100" kern="0" spc="9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互斥锁处理对</a:t>
            </a:r>
            <a:r>
              <a:rPr sz="1100" kern="0" spc="26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9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100" kern="0" spc="8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互斥访问</a:t>
            </a:r>
            <a:r>
              <a:rPr sz="1100" kern="0" spc="29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8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050" indent="1905" algn="l" rtl="0" eaLnBrk="0">
              <a:lnSpc>
                <a:spcPct val="118000"/>
              </a:lnSpc>
              <a:spcBef>
                <a:spcPts val="179"/>
              </a:spcBef>
              <a:tabLst/>
            </a:pPr>
            <a:r>
              <a:rPr sz="800" kern="0" spc="8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  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pthread_mutex_t  pmutex  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PTHREAD_MUTE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X_INITIALIZER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6000"/>
              </a:lnSpc>
              <a:spcBef>
                <a:spcPts val="442"/>
              </a:spcBef>
              <a:tabLst/>
            </a:pP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put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96000"/>
              </a:lnSpc>
              <a:spcBef>
                <a:spcPts val="434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2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unsigned  int</a:t>
            </a:r>
            <a:r>
              <a:rPr sz="800" kern="0" spc="7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mypos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8000"/>
              </a:lnSpc>
              <a:spcBef>
                <a:spcPts val="449"/>
              </a:spcBef>
              <a:tabLst/>
            </a:pPr>
            <a:r>
              <a:rPr sz="800" kern="0" spc="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6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  </a:t>
            </a:r>
            <a:r>
              <a:rPr sz="1100" kern="0" spc="6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我们等待，直到有缓冲区空间可用</a:t>
            </a:r>
            <a:r>
              <a:rPr sz="1100" kern="0" spc="32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5000"/>
              </a:lnSpc>
              <a:spcBef>
                <a:spcPts val="173"/>
              </a:spcBef>
              <a:tabLst/>
            </a:pP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sem_wait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psem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9000"/>
              </a:lnSpc>
              <a:spcBef>
                <a:spcPts val="462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      </a:t>
            </a:r>
            <a:r>
              <a:rPr sz="800" kern="0" spc="7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</a:t>
            </a:r>
            <a:r>
              <a:rPr sz="800" kern="0" spc="10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7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在所有生产者之间共享  </a:t>
            </a:r>
            <a:r>
              <a:rPr sz="800" kern="0" spc="7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5000"/>
              </a:lnSpc>
              <a:spcBef>
                <a:spcPts val="161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pthread_mutex_lock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pmut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4000"/>
              </a:lnSpc>
              <a:spcBef>
                <a:spcPts val="467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 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95000"/>
              </a:lnSpc>
              <a:spcBef>
                <a:spcPts val="429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  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%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FSIZE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88000"/>
              </a:lnSpc>
              <a:spcBef>
                <a:spcPts val="462"/>
              </a:spcBef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    </a:t>
            </a:r>
            <a:r>
              <a:rPr sz="800" kern="0" spc="7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/*</a:t>
            </a:r>
            <a:r>
              <a:rPr sz="800" kern="0" spc="6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7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在缓冲区中存储信息</a:t>
            </a:r>
            <a:r>
              <a:rPr sz="1100" kern="0" spc="29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7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*/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96000"/>
              </a:lnSpc>
              <a:spcBef>
                <a:spcPts val="179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buffer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[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mypos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]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95000"/>
              </a:lnSpc>
              <a:spcBef>
                <a:spcPts val="429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tex_unlock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pmutex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14  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sem_po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csem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116" name="group 116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488" name="picture 48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490" name="textbox 490"/>
            <p:cNvSpPr/>
            <p:nvPr/>
          </p:nvSpPr>
          <p:spPr>
            <a:xfrm>
              <a:off x="-12700" y="-12700"/>
              <a:ext cx="4633595" cy="5321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97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1129" algn="l" rtl="0" eaLnBrk="0">
                <a:lnSpc>
                  <a:spcPct val="88000"/>
                </a:lnSpc>
                <a:tabLst/>
              </a:pPr>
              <a:r>
                <a:rPr sz="1400" kern="0" spc="-9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多个生产者：使用锁！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8" name="group 118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492" name="picture 49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494" name="textbox 49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19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20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496" name="picture 49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498" name="textbox 498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8904" algn="l" rtl="0" eaLnBrk="0">
                <a:lnSpc>
                  <a:spcPts val="1823"/>
                </a:lnSpc>
                <a:tabLst/>
              </a:pPr>
              <a:r>
                <a:rPr sz="1400" kern="0" spc="2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信号量</a:t>
              </a:r>
              <a:r>
                <a:rPr sz="1300" kern="0" spc="2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400" kern="0" spc="2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自旋锁</a:t>
              </a:r>
              <a:r>
                <a:rPr sz="1300" kern="0" spc="2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400" kern="0" spc="2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条件变量是可互换的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500" name="textbox 500"/>
          <p:cNvSpPr/>
          <p:nvPr/>
        </p:nvSpPr>
        <p:spPr>
          <a:xfrm>
            <a:off x="268465" y="1093308"/>
            <a:ext cx="2505075" cy="782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8000"/>
              </a:lnSpc>
              <a:tabLst>
                <a:tab pos="15621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每个都可以通过其他两者的组合来实现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87000"/>
              </a:lnSpc>
              <a:spcBef>
                <a:spcPts val="327"/>
              </a:spcBef>
              <a:tabLst>
                <a:tab pos="15493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根据使用情况，  一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个比另一个更快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9000"/>
              </a:lnSpc>
              <a:spcBef>
                <a:spcPts val="195"/>
              </a:spcBef>
              <a:tabLst>
                <a:tab pos="43941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临界区执行频率有多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高？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38"/>
              </a:spcBef>
              <a:tabLst>
                <a:tab pos="43306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有多少线程竞争临界区？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7000"/>
              </a:lnSpc>
              <a:spcBef>
                <a:spcPts val="252"/>
              </a:spcBef>
              <a:tabLst>
                <a:tab pos="43116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锁被持有多长时间？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2" name="picture 5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915" y="1785277"/>
            <a:ext cx="52527" cy="52527"/>
          </a:xfrm>
          <a:prstGeom prst="rect">
            <a:avLst/>
          </a:prstGeom>
        </p:spPr>
      </p:pic>
      <p:pic>
        <p:nvPicPr>
          <p:cNvPr id="504" name="picture 5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915" y="1633435"/>
            <a:ext cx="52527" cy="52527"/>
          </a:xfrm>
          <a:prstGeom prst="rect">
            <a:avLst/>
          </a:prstGeom>
        </p:spPr>
      </p:pic>
      <p:pic>
        <p:nvPicPr>
          <p:cNvPr id="506" name="picture 5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915" y="1481607"/>
            <a:ext cx="52527" cy="52527"/>
          </a:xfrm>
          <a:prstGeom prst="rect">
            <a:avLst/>
          </a:prstGeom>
        </p:spPr>
      </p:pic>
      <p:pic>
        <p:nvPicPr>
          <p:cNvPr id="508" name="picture 5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317104"/>
            <a:ext cx="65201" cy="65201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165" y="1145032"/>
            <a:ext cx="65201" cy="65201"/>
          </a:xfrm>
          <a:prstGeom prst="rect">
            <a:avLst/>
          </a:prstGeom>
        </p:spPr>
      </p:pic>
      <p:grpSp>
        <p:nvGrpSpPr>
          <p:cNvPr id="122" name="group 122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512" name="picture 5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514" name="textbox 51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9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</a:t>
              </a:r>
              <a:r>
                <a:rPr sz="500" kern="0" spc="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  <p:pic>
        <p:nvPicPr>
          <p:cNvPr id="516" name="picture 5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065896" y="1960938"/>
            <a:ext cx="476210" cy="55716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4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518" name="picture 5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520" name="textbox 520"/>
            <p:cNvSpPr/>
            <p:nvPr/>
          </p:nvSpPr>
          <p:spPr>
            <a:xfrm>
              <a:off x="-12700" y="-12700"/>
              <a:ext cx="4633595" cy="535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0810" algn="l" rtl="0" eaLnBrk="0">
                <a:lnSpc>
                  <a:spcPct val="87000"/>
                </a:lnSpc>
                <a:spcBef>
                  <a:spcPts val="2"/>
                </a:spcBef>
                <a:tabLst/>
              </a:pPr>
              <a:r>
                <a:rPr sz="1400" kern="0" spc="2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使用信号量实现互斥</a:t>
              </a: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522" name="textbox 522"/>
          <p:cNvSpPr/>
          <p:nvPr/>
        </p:nvSpPr>
        <p:spPr>
          <a:xfrm>
            <a:off x="128438" y="1281717"/>
            <a:ext cx="1381760" cy="996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1000"/>
              </a:lnSpc>
              <a:tabLst/>
            </a:pP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sem_t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119000"/>
              </a:lnSpc>
              <a:spcBef>
                <a:spcPts val="439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sem_init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29"/>
              </a:spcBef>
              <a:tabLst/>
            </a:pP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 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sem_wait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470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...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//</a:t>
            </a:r>
            <a:r>
              <a:rPr sz="800" kern="0" spc="9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4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临界区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5240" algn="l" rtl="0" eaLnBrk="0">
              <a:lnSpc>
                <a:spcPct val="95000"/>
              </a:lnSpc>
              <a:spcBef>
                <a:spcPts val="179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sem_post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126" name="group 126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524" name="picture 5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526" name="textbox 526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21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textbox 528"/>
          <p:cNvSpPr/>
          <p:nvPr/>
        </p:nvSpPr>
        <p:spPr>
          <a:xfrm>
            <a:off x="128438" y="933756"/>
            <a:ext cx="2807970" cy="1858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6000"/>
              </a:lnSpc>
              <a:tabLst/>
            </a:pP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6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typedef</a:t>
            </a:r>
            <a:r>
              <a:rPr sz="800" kern="0" spc="8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struc</a:t>
            </a:r>
            <a:r>
              <a:rPr sz="800" kern="0" spc="15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800" kern="0" spc="9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7000"/>
              </a:lnSpc>
              <a:spcBef>
                <a:spcPts val="434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800" kern="0" spc="1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//</a:t>
            </a:r>
            <a:r>
              <a:rPr sz="800" kern="0" spc="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5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r>
              <a:rPr sz="1100" kern="0" spc="14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号量值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7779" algn="l" rtl="0" eaLnBrk="0">
              <a:lnSpc>
                <a:spcPct val="88000"/>
              </a:lnSpc>
              <a:spcBef>
                <a:spcPts val="209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pthread_mutex_t  lock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  </a:t>
            </a:r>
            <a:r>
              <a:rPr sz="800" kern="0" spc="12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//</a:t>
            </a:r>
            <a:r>
              <a:rPr sz="800" kern="0" spc="6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11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访问信号量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95"/>
              </a:spcBef>
              <a:tabLst/>
            </a:pP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pthread_cond_t  c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ond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    </a:t>
            </a:r>
            <a:r>
              <a:rPr sz="800" kern="0" spc="10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//  </a:t>
            </a:r>
            <a:r>
              <a:rPr sz="1100" kern="0" spc="10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等待队列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5240" indent="2540" algn="l" rtl="0" eaLnBrk="0">
              <a:lnSpc>
                <a:spcPct val="119000"/>
              </a:lnSpc>
              <a:spcBef>
                <a:spcPts val="181"/>
              </a:spcBef>
              <a:tabLst/>
            </a:pP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 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sem_t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</a:t>
            </a:r>
            <a:r>
              <a:rPr sz="800" kern="0" spc="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5000"/>
              </a:lnSpc>
              <a:spcBef>
                <a:spcPts val="429"/>
              </a:spcBef>
              <a:tabLst/>
            </a:pP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9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sem_init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sem_t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</a:t>
            </a:r>
            <a:r>
              <a:rPr sz="800" kern="0" spc="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4000"/>
              </a:lnSpc>
              <a:spcBef>
                <a:spcPts val="453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800" kern="0" spc="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ex_init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(&amp;(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),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NULL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pthread_cond_init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(&amp;(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),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NULL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128" name="group 128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530" name="picture 5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532" name="textbox 532"/>
            <p:cNvSpPr/>
            <p:nvPr/>
          </p:nvSpPr>
          <p:spPr>
            <a:xfrm>
              <a:off x="-12700" y="-12700"/>
              <a:ext cx="4633595" cy="5340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0810" algn="l" rtl="0" eaLnBrk="0">
                <a:lnSpc>
                  <a:spcPct val="87000"/>
                </a:lnSpc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使用 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CV/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锁实现信号量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30" name="group 130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534" name="picture 5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536" name="textbox 536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22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box 538"/>
          <p:cNvSpPr/>
          <p:nvPr/>
        </p:nvSpPr>
        <p:spPr>
          <a:xfrm>
            <a:off x="128438" y="727267"/>
            <a:ext cx="3419475" cy="2374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2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sem_wait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sem_t 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5000"/>
              </a:lnSpc>
              <a:spcBef>
                <a:spcPts val="470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pthread_mutex_lock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(&amp;(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4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while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&lt;=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122000"/>
              </a:lnSpc>
              <a:spcBef>
                <a:spcPts val="473"/>
              </a:spcBef>
              <a:tabLst/>
            </a:pPr>
            <a:r>
              <a:rPr sz="800" kern="0" spc="1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pthread_cond_wait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(&amp;(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),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&amp;(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));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-7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-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spcBef>
                <a:spcPts val="364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utex_unlock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(&amp;(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indent="1270" algn="l" rtl="0" eaLnBrk="0">
              <a:lnSpc>
                <a:spcPct val="119000"/>
              </a:lnSpc>
              <a:spcBef>
                <a:spcPts val="440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5000"/>
              </a:lnSpc>
              <a:spcBef>
                <a:spcPts val="429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2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sem_post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_t 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{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pthread_mutex_lock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(&amp;(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4000"/>
              </a:lnSpc>
              <a:spcBef>
                <a:spcPts val="453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++;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6000"/>
              </a:lnSpc>
              <a:spcBef>
                <a:spcPts val="447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pthread_cond_s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ignal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(&amp;(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spcBef>
                <a:spcPts val="430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pthread_mutex_unlock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(&amp;(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));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14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132" name="group 132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540" name="picture 5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542" name="textbox 542"/>
            <p:cNvSpPr/>
            <p:nvPr/>
          </p:nvSpPr>
          <p:spPr>
            <a:xfrm>
              <a:off x="-12700" y="-12700"/>
              <a:ext cx="4633595" cy="5340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0810" algn="l" rtl="0" eaLnBrk="0">
                <a:lnSpc>
                  <a:spcPct val="87000"/>
                </a:lnSpc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使用 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CV/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锁实现信号量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34" name="group 134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544" name="picture 5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546" name="textbox 546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23 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textbox 548"/>
          <p:cNvSpPr/>
          <p:nvPr/>
        </p:nvSpPr>
        <p:spPr>
          <a:xfrm>
            <a:off x="268465" y="1294019"/>
            <a:ext cx="3729354" cy="947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7000"/>
              </a:lnSpc>
              <a:tabLst>
                <a:tab pos="16192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一个（独占）写者，多个（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N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）并发读者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329" indent="-276859" algn="l" rtl="0" eaLnBrk="0">
              <a:lnSpc>
                <a:spcPct val="99000"/>
              </a:lnSpc>
              <a:spcBef>
                <a:spcPts val="304"/>
              </a:spcBef>
              <a:tabLst>
                <a:tab pos="154304" algn="l"/>
                <a:tab pos="44195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使用两个信号量实现：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用于数据结构，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wlock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用于写者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两个信号量都初始化为（</a:t>
            </a:r>
            <a:r>
              <a:rPr sz="9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ts val="1221"/>
              </a:lnSpc>
              <a:tabLst>
                <a:tab pos="43878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写者在获取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释放时只等待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发送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wlock</a:t>
            </a:r>
            <a:endParaRPr sz="800" dirty="0">
              <a:latin typeface="Arial"/>
              <a:ea typeface="Arial"/>
              <a:cs typeface="Arial"/>
            </a:endParaRPr>
          </a:p>
          <a:p>
            <a:pPr marL="354965" algn="l" rtl="0" eaLnBrk="0">
              <a:lnSpc>
                <a:spcPts val="1195"/>
              </a:lnSpc>
              <a:tabLst>
                <a:tab pos="43434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读者在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上等待，增加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减少读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者计数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ts val="1230"/>
              </a:lnSpc>
              <a:tabLst>
                <a:tab pos="42862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readers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==0</a:t>
            </a: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，必须在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wlock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上等待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/</a:t>
            </a: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发送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50" name="picture 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0915" y="2140336"/>
            <a:ext cx="52527" cy="51063"/>
          </a:xfrm>
          <a:prstGeom prst="rect">
            <a:avLst/>
          </a:prstGeom>
        </p:spPr>
      </p:pic>
      <p:pic>
        <p:nvPicPr>
          <p:cNvPr id="552" name="picture 5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915" y="1986546"/>
            <a:ext cx="52527" cy="49599"/>
          </a:xfrm>
          <a:prstGeom prst="rect">
            <a:avLst/>
          </a:prstGeom>
        </p:spPr>
      </p:pic>
      <p:pic>
        <p:nvPicPr>
          <p:cNvPr id="554" name="picture 5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915" y="1832851"/>
            <a:ext cx="52527" cy="50683"/>
          </a:xfrm>
          <a:prstGeom prst="rect">
            <a:avLst/>
          </a:prstGeom>
        </p:spPr>
      </p:pic>
      <p:pic>
        <p:nvPicPr>
          <p:cNvPr id="556" name="picture 5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915" y="1681494"/>
            <a:ext cx="52527" cy="52314"/>
          </a:xfrm>
          <a:prstGeom prst="rect">
            <a:avLst/>
          </a:prstGeom>
        </p:spPr>
      </p:pic>
      <p:pic>
        <p:nvPicPr>
          <p:cNvPr id="558" name="picture 5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517657"/>
            <a:ext cx="65201" cy="64937"/>
          </a:xfrm>
          <a:prstGeom prst="rect">
            <a:avLst/>
          </a:prstGeom>
        </p:spPr>
      </p:pic>
      <p:pic>
        <p:nvPicPr>
          <p:cNvPr id="560" name="picture 5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165" y="1345742"/>
            <a:ext cx="65201" cy="65201"/>
          </a:xfrm>
          <a:prstGeom prst="rect">
            <a:avLst/>
          </a:prstGeom>
        </p:spPr>
      </p:pic>
      <p:grpSp>
        <p:nvGrpSpPr>
          <p:cNvPr id="136" name="group 136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562" name="picture 56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564" name="textbox 564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5254" algn="l" rtl="0" eaLnBrk="0">
                <a:lnSpc>
                  <a:spcPts val="1823"/>
                </a:lnSpc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读者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写者锁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38" name="group 138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566" name="picture 56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568" name="textbox 56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10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24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box 570"/>
          <p:cNvSpPr/>
          <p:nvPr/>
        </p:nvSpPr>
        <p:spPr>
          <a:xfrm>
            <a:off x="128438" y="658433"/>
            <a:ext cx="3954145" cy="2546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  </a:t>
            </a:r>
            <a:r>
              <a:rPr sz="800" kern="0" spc="1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10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rwlock_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acquire_</a:t>
            </a:r>
            <a:r>
              <a:rPr sz="8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readlock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rwlock_t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sem_wait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4000"/>
              </a:lnSpc>
              <a:spcBef>
                <a:spcPts val="453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readers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++;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4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800" kern="0" spc="10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-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readers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==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8000"/>
              </a:lnSpc>
              <a:spcBef>
                <a:spcPts val="465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sem_wait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wlock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//</a:t>
            </a:r>
            <a:r>
              <a:rPr sz="800" kern="0" spc="5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8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第一个读者，也获取</a:t>
            </a:r>
            <a:r>
              <a:rPr sz="1100" kern="0" spc="22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wlock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spcBef>
                <a:spcPts val="198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sem_post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indent="1270" algn="l" rtl="0" eaLnBrk="0">
              <a:lnSpc>
                <a:spcPct val="119000"/>
              </a:lnSpc>
              <a:spcBef>
                <a:spcPts val="440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2000"/>
              </a:lnSpc>
              <a:spcBef>
                <a:spcPts val="431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   </a:t>
            </a:r>
            <a:r>
              <a:rPr sz="800" kern="0" spc="1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10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wlock_</a:t>
            </a:r>
            <a:r>
              <a:rPr sz="800" kern="0" spc="-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release_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readlock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rwlock_t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{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spcBef>
                <a:spcPts val="470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sem_wait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4000"/>
              </a:lnSpc>
              <a:spcBef>
                <a:spcPts val="453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readers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-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-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3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if 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-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readers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==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8000"/>
              </a:lnSpc>
              <a:spcBef>
                <a:spcPts val="469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14     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post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wlock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  </a:t>
            </a:r>
            <a:r>
              <a:rPr sz="800" kern="0" spc="12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//</a:t>
            </a:r>
            <a:r>
              <a:rPr sz="800" kern="0" spc="9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7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最后一个读者，也释放</a:t>
            </a:r>
            <a:r>
              <a:rPr sz="1100" kern="0" spc="230" dirty="0">
                <a:solidFill>
                  <a:srgbClr val="61A1B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0" dirty="0">
                <a:solidFill>
                  <a:srgbClr val="61A1B0">
                    <a:alpha val="100000"/>
                  </a:srgbClr>
                </a:solidFill>
                <a:latin typeface="Arial"/>
                <a:ea typeface="Arial"/>
                <a:cs typeface="Arial"/>
              </a:rPr>
              <a:t>wlock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5000"/>
              </a:lnSpc>
              <a:spcBef>
                <a:spcPts val="194"/>
              </a:spcBef>
              <a:tabLst/>
            </a:pPr>
            <a:r>
              <a:rPr sz="800" kern="0" spc="1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sem_post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(&amp;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rw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16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140" name="group 140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572" name="picture 57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574" name="textbox 574"/>
            <p:cNvSpPr/>
            <p:nvPr/>
          </p:nvSpPr>
          <p:spPr>
            <a:xfrm>
              <a:off x="-12700" y="-12700"/>
              <a:ext cx="4633595" cy="5156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3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5254" algn="l" rtl="0" eaLnBrk="0">
                <a:lnSpc>
                  <a:spcPts val="1823"/>
                </a:lnSpc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读者</a:t>
              </a:r>
              <a:r>
                <a:rPr sz="1300" kern="0" spc="0" dirty="0">
                  <a:solidFill>
                    <a:srgbClr val="CC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写者锁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2" name="group 142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576" name="picture 57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578" name="textbox 57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25</a:t>
              </a:r>
              <a:r>
                <a:rPr sz="500" kern="0" spc="6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 144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580" name="picture 5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582" name="textbox 582"/>
            <p:cNvSpPr/>
            <p:nvPr/>
          </p:nvSpPr>
          <p:spPr>
            <a:xfrm>
              <a:off x="-12700" y="-12700"/>
              <a:ext cx="4633595" cy="5314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064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并发程序中的错误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584" name="textbox 584"/>
          <p:cNvSpPr/>
          <p:nvPr/>
        </p:nvSpPr>
        <p:spPr>
          <a:xfrm>
            <a:off x="268465" y="1378368"/>
            <a:ext cx="3331209" cy="711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ts val="1256"/>
              </a:lnSpc>
              <a:tabLst>
                <a:tab pos="16002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编写并发程序很难！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87000"/>
              </a:lnSpc>
              <a:spcBef>
                <a:spcPts val="288"/>
              </a:spcBef>
              <a:tabLst>
                <a:tab pos="149860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原子性错误：</a:t>
            </a:r>
            <a:r>
              <a:rPr sz="11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并发、未同步的修改（加锁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！）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95000"/>
              </a:lnSpc>
              <a:spcBef>
                <a:spcPts val="20"/>
              </a:spcBef>
              <a:tabLst>
                <a:tab pos="147954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违反顺序的错误：</a:t>
            </a:r>
            <a:r>
              <a:rPr sz="11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数据按错误顺序访问（使用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CV</a:t>
            </a:r>
            <a:r>
              <a:rPr sz="10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！）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ct val="88000"/>
              </a:lnSpc>
              <a:spcBef>
                <a:spcPts val="273"/>
              </a:spcBef>
              <a:tabLst>
                <a:tab pos="149860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死锁：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程序不再取得进展（加锁顺序）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86" name="picture 5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1967687"/>
            <a:ext cx="65201" cy="65201"/>
          </a:xfrm>
          <a:prstGeom prst="rect">
            <a:avLst/>
          </a:prstGeom>
        </p:spPr>
      </p:pic>
      <p:pic>
        <p:nvPicPr>
          <p:cNvPr id="588" name="picture 5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1165" y="1795615"/>
            <a:ext cx="65201" cy="65201"/>
          </a:xfrm>
          <a:prstGeom prst="rect">
            <a:avLst/>
          </a:prstGeom>
        </p:spPr>
      </p:pic>
      <p:pic>
        <p:nvPicPr>
          <p:cNvPr id="590" name="picture 5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623542"/>
            <a:ext cx="65201" cy="65201"/>
          </a:xfrm>
          <a:prstGeom prst="rect">
            <a:avLst/>
          </a:prstGeom>
        </p:spPr>
      </p:pic>
      <p:pic>
        <p:nvPicPr>
          <p:cNvPr id="592" name="picture 5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1165" y="1451457"/>
            <a:ext cx="65201" cy="65201"/>
          </a:xfrm>
          <a:prstGeom prst="rect">
            <a:avLst/>
          </a:prstGeom>
        </p:spPr>
      </p:pic>
      <p:grpSp>
        <p:nvGrpSpPr>
          <p:cNvPr id="146" name="group 146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594" name="picture 59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596" name="textbox 596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8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26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textbox 598"/>
          <p:cNvSpPr/>
          <p:nvPr/>
        </p:nvSpPr>
        <p:spPr>
          <a:xfrm>
            <a:off x="128438" y="712798"/>
            <a:ext cx="3312795" cy="1957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88000"/>
              </a:lnSpc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一个线程检查值并打印它，而另一个线程同时修改它。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7779" indent="1905" algn="l" rtl="0" eaLnBrk="0">
              <a:lnSpc>
                <a:spcPct val="118000"/>
              </a:lnSpc>
              <a:spcBef>
                <a:spcPts val="1076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2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shared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24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2000"/>
              </a:lnSpc>
              <a:spcBef>
                <a:spcPts val="441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T1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472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4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800" kern="0" spc="9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shared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23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5000"/>
              </a:lnSpc>
              <a:spcBef>
                <a:spcPts val="470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printf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"Shared</a:t>
            </a:r>
            <a:r>
              <a:rPr sz="800" kern="0" spc="10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800" kern="0" spc="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&gt;23:</a:t>
            </a:r>
            <a:r>
              <a:rPr sz="800" kern="0" spc="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%d\n</a:t>
            </a:r>
            <a:r>
              <a:rPr sz="800" kern="0" spc="-10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800" kern="0" spc="-4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ed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2000"/>
              </a:lnSpc>
              <a:spcBef>
                <a:spcPts val="472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2000"/>
              </a:lnSpc>
              <a:spcBef>
                <a:spcPts val="472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800" kern="0" spc="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T2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4000"/>
              </a:lnSpc>
              <a:spcBef>
                <a:spcPts val="479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shared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148" name="group 148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600" name="picture 6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602" name="textbox 602"/>
            <p:cNvSpPr/>
            <p:nvPr/>
          </p:nvSpPr>
          <p:spPr>
            <a:xfrm>
              <a:off x="-12700" y="-12700"/>
              <a:ext cx="4633595" cy="5372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8270" algn="l" rtl="0" eaLnBrk="0">
                <a:lnSpc>
                  <a:spcPct val="87000"/>
                </a:lnSpc>
                <a:spcBef>
                  <a:spcPts val="7"/>
                </a:spcBef>
                <a:tabLst/>
              </a:pP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原子性错误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50" name="group 150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604" name="picture 60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606" name="textbox 606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27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textbox 608"/>
          <p:cNvSpPr/>
          <p:nvPr/>
        </p:nvSpPr>
        <p:spPr>
          <a:xfrm>
            <a:off x="128438" y="712798"/>
            <a:ext cx="4279265" cy="2397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88000"/>
              </a:lnSpc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一个线程检查值并打印它，而另一个线程同时修改它。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7779" indent="1905" algn="l" rtl="0" eaLnBrk="0">
              <a:lnSpc>
                <a:spcPct val="118000"/>
              </a:lnSpc>
              <a:spcBef>
                <a:spcPts val="1076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2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shared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24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2000"/>
              </a:lnSpc>
              <a:spcBef>
                <a:spcPts val="441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T1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472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4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800" kern="0" spc="90" dirty="0">
                <a:solidFill>
                  <a:srgbClr val="00702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shared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23</a:t>
            </a:r>
            <a:r>
              <a:rPr sz="800" kern="0" spc="1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5000"/>
              </a:lnSpc>
              <a:spcBef>
                <a:spcPts val="470"/>
              </a:spcBef>
              <a:tabLst/>
            </a:pPr>
            <a:r>
              <a:rPr sz="800" kern="0" spc="15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printf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"Shared</a:t>
            </a:r>
            <a:r>
              <a:rPr sz="800" kern="0" spc="10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800" kern="0" spc="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&gt;23:</a:t>
            </a:r>
            <a:r>
              <a:rPr sz="800" kern="0" spc="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%d\n</a:t>
            </a:r>
            <a:r>
              <a:rPr sz="800" kern="0" spc="-10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5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"</a:t>
            </a:r>
            <a:r>
              <a:rPr sz="800" kern="0" spc="-40" dirty="0">
                <a:solidFill>
                  <a:srgbClr val="4070A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5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ed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12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2000"/>
              </a:lnSpc>
              <a:spcBef>
                <a:spcPts val="472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2000"/>
              </a:lnSpc>
              <a:spcBef>
                <a:spcPts val="472"/>
              </a:spcBef>
              <a:tabLst/>
            </a:pPr>
            <a:r>
              <a:rPr sz="800" kern="0" spc="14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800" kern="0" spc="6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800" kern="0" spc="14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T2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4000"/>
              </a:lnSpc>
              <a:spcBef>
                <a:spcPts val="479"/>
              </a:spcBef>
              <a:tabLst/>
            </a:pPr>
            <a:r>
              <a:rPr sz="800" kern="0" spc="10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shared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445"/>
              </a:spcBef>
              <a:tabLst/>
            </a:pPr>
            <a:r>
              <a:rPr sz="800" kern="0" spc="9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7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217804" algn="l" rtl="0" eaLnBrk="0">
              <a:lnSpc>
                <a:spcPct val="89000"/>
              </a:lnSpc>
              <a:spcBef>
                <a:spcPts val="1044"/>
              </a:spcBef>
              <a:tabLst>
                <a:tab pos="28384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	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T2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可能在</a:t>
            </a: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T1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中的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if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检查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printf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之间修改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shared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217804" algn="l" rtl="0" eaLnBrk="0">
              <a:lnSpc>
                <a:spcPct val="89000"/>
              </a:lnSpc>
              <a:spcBef>
                <a:spcPts val="287"/>
              </a:spcBef>
              <a:tabLst>
                <a:tab pos="29717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修复：在访问共享资源时，两个线程之间使用一个公共的互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斥锁。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10" name="picture 6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2999143"/>
            <a:ext cx="65201" cy="65201"/>
          </a:xfrm>
          <a:prstGeom prst="rect">
            <a:avLst/>
          </a:prstGeom>
        </p:spPr>
      </p:pic>
      <p:pic>
        <p:nvPicPr>
          <p:cNvPr id="612" name="picture 6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2827070"/>
            <a:ext cx="65201" cy="65201"/>
          </a:xfrm>
          <a:prstGeom prst="rect">
            <a:avLst/>
          </a:prstGeom>
        </p:spPr>
      </p:pic>
      <p:grpSp>
        <p:nvGrpSpPr>
          <p:cNvPr id="152" name="group 152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614" name="picture 6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616" name="textbox 616"/>
            <p:cNvSpPr/>
            <p:nvPr/>
          </p:nvSpPr>
          <p:spPr>
            <a:xfrm>
              <a:off x="-12700" y="-12700"/>
              <a:ext cx="4633595" cy="5372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8270" algn="l" rtl="0" eaLnBrk="0">
                <a:lnSpc>
                  <a:spcPct val="87000"/>
                </a:lnSpc>
                <a:spcBef>
                  <a:spcPts val="7"/>
                </a:spcBef>
                <a:tabLst/>
              </a:pPr>
              <a:r>
                <a:rPr sz="1400" kern="0" spc="1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原子性错误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54" name="group 154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618" name="picture 6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620" name="textbox 620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6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27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textbox 622"/>
          <p:cNvSpPr/>
          <p:nvPr/>
        </p:nvSpPr>
        <p:spPr>
          <a:xfrm>
            <a:off x="127648" y="715879"/>
            <a:ext cx="2741295" cy="1955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88000"/>
              </a:lnSpc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一个线程假设另一个已经更新了一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个值。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76000"/>
              </a:lnSpc>
              <a:spcBef>
                <a:spcPts val="1083"/>
              </a:spcBef>
              <a:tabLst/>
            </a:pP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Thread  </a:t>
            </a: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::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613"/>
              </a:spcBef>
              <a:tabLst/>
            </a:pPr>
            <a:r>
              <a:rPr sz="800" kern="0" spc="21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11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init</a:t>
            </a:r>
            <a:r>
              <a:rPr sz="800" kern="0" spc="2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2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0495" algn="l" rtl="0" eaLnBrk="0">
              <a:lnSpc>
                <a:spcPct val="138000"/>
              </a:lnSpc>
              <a:spcBef>
                <a:spcPts val="166"/>
              </a:spcBef>
              <a:tabLst/>
            </a:pP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mThread  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PR_CreateThrea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mMain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.);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mThread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State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2000"/>
              </a:lnSpc>
              <a:spcBef>
                <a:spcPts val="366"/>
              </a:spcBef>
              <a:tabLst/>
            </a:pPr>
            <a:r>
              <a:rPr sz="800" kern="0" spc="2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6000"/>
              </a:lnSpc>
              <a:spcBef>
                <a:spcPts val="243"/>
              </a:spcBef>
              <a:tabLst/>
            </a:pP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Thread  </a:t>
            </a: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-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::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613"/>
              </a:spcBef>
              <a:tabLst/>
            </a:pPr>
            <a:r>
              <a:rPr sz="800" kern="0" spc="12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mMain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-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.)  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0495" algn="l" rtl="0" eaLnBrk="0">
              <a:lnSpc>
                <a:spcPct val="94000"/>
              </a:lnSpc>
              <a:spcBef>
                <a:spcPts val="479"/>
              </a:spcBef>
              <a:tabLst/>
            </a:pP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mState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mThread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State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1328"/>
              </a:lnSpc>
              <a:tabLst/>
            </a:pPr>
            <a:r>
              <a:rPr sz="800" kern="0" spc="2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156" name="group 156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624" name="picture 6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626" name="textbox 626"/>
            <p:cNvSpPr/>
            <p:nvPr/>
          </p:nvSpPr>
          <p:spPr>
            <a:xfrm>
              <a:off x="-12700" y="-12700"/>
              <a:ext cx="4633595" cy="5378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5889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违反顺序的错误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58" name="group 158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628" name="picture 6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630" name="textbox 630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28</a:t>
              </a:r>
              <a:r>
                <a:rPr sz="500" kern="0" spc="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textbox 632"/>
          <p:cNvSpPr/>
          <p:nvPr/>
        </p:nvSpPr>
        <p:spPr>
          <a:xfrm>
            <a:off x="127648" y="715879"/>
            <a:ext cx="3115310" cy="2395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88000"/>
              </a:lnSpc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一个线程假设另一个已经更新了一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个值。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76000"/>
              </a:lnSpc>
              <a:spcBef>
                <a:spcPts val="1083"/>
              </a:spcBef>
              <a:tabLst/>
            </a:pP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Thread  </a:t>
            </a: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::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613"/>
              </a:spcBef>
              <a:tabLst/>
            </a:pPr>
            <a:r>
              <a:rPr sz="800" kern="0" spc="21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11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init</a:t>
            </a:r>
            <a:r>
              <a:rPr sz="800" kern="0" spc="2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2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0495" algn="l" rtl="0" eaLnBrk="0">
              <a:lnSpc>
                <a:spcPct val="138000"/>
              </a:lnSpc>
              <a:spcBef>
                <a:spcPts val="166"/>
              </a:spcBef>
              <a:tabLst/>
            </a:pP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mThread  </a:t>
            </a:r>
            <a:r>
              <a:rPr sz="800" kern="0" spc="1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 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PR_CreateThrea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mMain</a:t>
            </a:r>
            <a:r>
              <a:rPr sz="8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800" kern="0" spc="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.);</a:t>
            </a:r>
            <a:r>
              <a:rPr sz="800" kern="0" spc="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mThread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State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4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2000"/>
              </a:lnSpc>
              <a:spcBef>
                <a:spcPts val="366"/>
              </a:spcBef>
              <a:tabLst/>
            </a:pPr>
            <a:r>
              <a:rPr sz="800" kern="0" spc="2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6000"/>
              </a:lnSpc>
              <a:spcBef>
                <a:spcPts val="243"/>
              </a:spcBef>
              <a:tabLst/>
            </a:pP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Thread  </a:t>
            </a:r>
            <a:r>
              <a:rPr sz="800" kern="0" spc="11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-30" dirty="0">
                <a:solidFill>
                  <a:srgbClr val="40A1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::</a:t>
            </a: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613"/>
              </a:spcBef>
              <a:tabLst/>
            </a:pPr>
            <a:r>
              <a:rPr sz="800" kern="0" spc="12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8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mMain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-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800" kern="0" spc="-3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.)  {</a:t>
            </a:r>
            <a:endParaRPr sz="800" dirty="0">
              <a:latin typeface="Arial"/>
              <a:ea typeface="Arial"/>
              <a:cs typeface="Arial"/>
            </a:endParaRPr>
          </a:p>
          <a:p>
            <a:pPr marL="150495" algn="l" rtl="0" eaLnBrk="0">
              <a:lnSpc>
                <a:spcPct val="94000"/>
              </a:lnSpc>
              <a:spcBef>
                <a:spcPts val="479"/>
              </a:spcBef>
              <a:tabLst/>
            </a:pP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mState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=</a:t>
            </a:r>
            <a:r>
              <a:rPr sz="800" kern="0" spc="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mThread</a:t>
            </a:r>
            <a:r>
              <a:rPr sz="800" kern="0" spc="12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&gt;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State</a:t>
            </a:r>
            <a:r>
              <a:rPr sz="800" kern="0" spc="11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1328"/>
              </a:lnSpc>
              <a:tabLst/>
            </a:pPr>
            <a:r>
              <a:rPr sz="800" kern="0" spc="2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marL="218440" algn="l" rtl="0" eaLnBrk="0">
              <a:lnSpc>
                <a:spcPct val="89000"/>
              </a:lnSpc>
              <a:spcBef>
                <a:spcPts val="1044"/>
              </a:spcBef>
              <a:tabLst>
                <a:tab pos="30543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线程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2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可能在</a:t>
            </a: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T1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中分配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mThread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之前运行。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218440" algn="l" rtl="0" eaLnBrk="0">
              <a:lnSpc>
                <a:spcPct val="88000"/>
              </a:lnSpc>
              <a:spcBef>
                <a:spcPts val="296"/>
              </a:spcBef>
              <a:tabLst>
                <a:tab pos="29781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修复：使用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CV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来表示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mThread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已经被初始化。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34" name="picture 6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3000857"/>
            <a:ext cx="65201" cy="65201"/>
          </a:xfrm>
          <a:prstGeom prst="rect">
            <a:avLst/>
          </a:prstGeom>
        </p:spPr>
      </p:pic>
      <p:pic>
        <p:nvPicPr>
          <p:cNvPr id="636" name="picture 6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2828772"/>
            <a:ext cx="65201" cy="65201"/>
          </a:xfrm>
          <a:prstGeom prst="rect">
            <a:avLst/>
          </a:prstGeom>
        </p:spPr>
      </p:pic>
      <p:grpSp>
        <p:nvGrpSpPr>
          <p:cNvPr id="160" name="group 160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638" name="picture 63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640" name="textbox 640"/>
            <p:cNvSpPr/>
            <p:nvPr/>
          </p:nvSpPr>
          <p:spPr>
            <a:xfrm>
              <a:off x="-12700" y="-12700"/>
              <a:ext cx="4633595" cy="5378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5889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400" kern="0" spc="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违反顺序的错误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62" name="group 162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642" name="picture 64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644" name="textbox 64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6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28</a:t>
              </a:r>
              <a:r>
                <a:rPr sz="500" kern="0" spc="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2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textbox 646"/>
          <p:cNvSpPr/>
          <p:nvPr/>
        </p:nvSpPr>
        <p:spPr>
          <a:xfrm>
            <a:off x="127648" y="782177"/>
            <a:ext cx="1382394" cy="1786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8000"/>
              </a:lnSpc>
              <a:tabLst/>
            </a:pP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锁以冲突的顺序获取。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2000"/>
              </a:lnSpc>
              <a:spcBef>
                <a:spcPts val="1079"/>
              </a:spcBef>
              <a:tabLst/>
            </a:pP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T1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5000"/>
              </a:lnSpc>
              <a:spcBef>
                <a:spcPts val="470"/>
              </a:spcBef>
              <a:tabLst/>
            </a:pP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L1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L2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1328"/>
              </a:lnSpc>
              <a:tabLst/>
            </a:pPr>
            <a:r>
              <a:rPr sz="800" kern="0" spc="2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243"/>
              </a:spcBef>
              <a:tabLst/>
            </a:pP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T2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5000"/>
              </a:lnSpc>
              <a:spcBef>
                <a:spcPts val="470"/>
              </a:spcBef>
              <a:tabLst/>
            </a:pP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L2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L1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1328"/>
              </a:lnSpc>
              <a:tabLst/>
            </a:pPr>
            <a:r>
              <a:rPr sz="800" kern="0" spc="2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grpSp>
        <p:nvGrpSpPr>
          <p:cNvPr id="164" name="group 164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648" name="picture 6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650" name="textbox 650"/>
            <p:cNvSpPr/>
            <p:nvPr/>
          </p:nvSpPr>
          <p:spPr>
            <a:xfrm>
              <a:off x="-12700" y="-12700"/>
              <a:ext cx="4633595" cy="5435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6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1604" algn="l" rtl="0" eaLnBrk="0">
                <a:lnSpc>
                  <a:spcPct val="87000"/>
                </a:lnSpc>
                <a:tabLst/>
              </a:pPr>
              <a:r>
                <a:rPr sz="1400" kern="0" spc="-4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死锁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66" name="group 166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652" name="picture 65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654" name="textbox 65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4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29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extbox 656"/>
          <p:cNvSpPr/>
          <p:nvPr/>
        </p:nvSpPr>
        <p:spPr>
          <a:xfrm>
            <a:off x="127648" y="782177"/>
            <a:ext cx="3858895" cy="2226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8000"/>
              </a:lnSpc>
              <a:tabLst/>
            </a:pP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锁以冲突的顺序获取。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2000"/>
              </a:lnSpc>
              <a:spcBef>
                <a:spcPts val="1079"/>
              </a:spcBef>
              <a:tabLst/>
            </a:pP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T1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5000"/>
              </a:lnSpc>
              <a:spcBef>
                <a:spcPts val="470"/>
              </a:spcBef>
              <a:tabLst/>
            </a:pP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L1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L2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1328"/>
              </a:lnSpc>
              <a:tabLst/>
            </a:pPr>
            <a:r>
              <a:rPr sz="800" kern="0" spc="2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243"/>
              </a:spcBef>
              <a:tabLst/>
            </a:pPr>
            <a:r>
              <a:rPr sz="800" kern="0" spc="16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void</a:t>
            </a:r>
            <a:r>
              <a:rPr sz="800" kern="0" spc="50" dirty="0">
                <a:solidFill>
                  <a:srgbClr val="8F21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T2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()</a:t>
            </a:r>
            <a:r>
              <a:rPr sz="800" kern="0" spc="9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16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{</a:t>
            </a:r>
            <a:endParaRPr sz="8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5000"/>
              </a:lnSpc>
              <a:spcBef>
                <a:spcPts val="470"/>
              </a:spcBef>
              <a:tabLst/>
            </a:pP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L2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288925" algn="l" rtl="0" eaLnBrk="0">
              <a:lnSpc>
                <a:spcPct val="95000"/>
              </a:lnSpc>
              <a:spcBef>
                <a:spcPts val="443"/>
              </a:spcBef>
              <a:tabLst/>
            </a:pP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lock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8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L1</a:t>
            </a:r>
            <a:r>
              <a:rPr sz="800" kern="0" spc="18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);</a:t>
            </a:r>
            <a:endParaRPr sz="8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1328"/>
              </a:lnSpc>
              <a:tabLst/>
            </a:pPr>
            <a:r>
              <a:rPr sz="800" kern="0" spc="200" dirty="0">
                <a:solidFill>
                  <a:srgbClr val="666666">
                    <a:alpha val="100000"/>
                  </a:srgbClr>
                </a:solidFill>
                <a:latin typeface="Arial"/>
                <a:ea typeface="Arial"/>
                <a:cs typeface="Arial"/>
              </a:rPr>
              <a:t>}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8440" algn="l" rtl="0" eaLnBrk="0">
              <a:lnSpc>
                <a:spcPct val="116000"/>
              </a:lnSpc>
              <a:spcBef>
                <a:spcPts val="6"/>
              </a:spcBef>
              <a:tabLst>
                <a:tab pos="297815" algn="l"/>
                <a:tab pos="30543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线程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1/2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可能在获取第一个锁后被卡住，程序不再取得进展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修复：按照递增（全局）顺序获取锁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58" name="picture 6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2897276"/>
            <a:ext cx="65201" cy="65201"/>
          </a:xfrm>
          <a:prstGeom prst="rect">
            <a:avLst/>
          </a:prstGeom>
        </p:spPr>
      </p:pic>
      <p:pic>
        <p:nvPicPr>
          <p:cNvPr id="660" name="picture 6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165" y="2725204"/>
            <a:ext cx="65201" cy="65201"/>
          </a:xfrm>
          <a:prstGeom prst="rect">
            <a:avLst/>
          </a:prstGeom>
        </p:spPr>
      </p:pic>
      <p:grpSp>
        <p:nvGrpSpPr>
          <p:cNvPr id="168" name="group 168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662" name="picture 66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664" name="textbox 664"/>
            <p:cNvSpPr/>
            <p:nvPr/>
          </p:nvSpPr>
          <p:spPr>
            <a:xfrm>
              <a:off x="-12700" y="-12700"/>
              <a:ext cx="4633595" cy="5435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6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1604" algn="l" rtl="0" eaLnBrk="0">
                <a:lnSpc>
                  <a:spcPct val="87000"/>
                </a:lnSpc>
                <a:tabLst/>
              </a:pPr>
              <a:r>
                <a:rPr sz="1400" kern="0" spc="-4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死锁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70" name="group 170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666" name="picture 66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668" name="textbox 668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6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29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4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textbox 670"/>
          <p:cNvSpPr/>
          <p:nvPr/>
        </p:nvSpPr>
        <p:spPr>
          <a:xfrm>
            <a:off x="268465" y="1096884"/>
            <a:ext cx="4133215" cy="144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85000"/>
              </a:lnSpc>
              <a:tabLst>
                <a:tab pos="18351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自旋锁、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CV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和信号量同步多个线程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ts val="1196"/>
              </a:lnSpc>
              <a:tabLst>
                <a:tab pos="45783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自旋锁：原子访问，无序，自旋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69"/>
              </a:spcBef>
              <a:tabLst>
                <a:tab pos="437515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条件变量：原子访问，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队列，操作系统原语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7000"/>
              </a:lnSpc>
              <a:spcBef>
                <a:spcPts val="239"/>
              </a:spcBef>
              <a:tabLst>
                <a:tab pos="42989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信号量：共享对临界区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的访问，带有（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Georgia"/>
                <a:ea typeface="Georgia"/>
                <a:cs typeface="Georgia"/>
              </a:rPr>
              <a:t>int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）状态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77469" algn="l" rtl="0" eaLnBrk="0">
              <a:lnSpc>
                <a:spcPts val="1376"/>
              </a:lnSpc>
              <a:tabLst>
                <a:tab pos="16065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所有三种原语同样强大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21"/>
              </a:spcBef>
              <a:tabLst>
                <a:tab pos="433069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每个原语都可以用来实现其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他两个原语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54965" algn="l" rtl="0" eaLnBrk="0">
              <a:lnSpc>
                <a:spcPct val="88000"/>
              </a:lnSpc>
              <a:spcBef>
                <a:spcPts val="279"/>
              </a:spcBef>
              <a:tabLst>
                <a:tab pos="432434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性能可能不同！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56210" indent="-78739" algn="l" rtl="0" eaLnBrk="0">
              <a:lnSpc>
                <a:spcPct val="109000"/>
              </a:lnSpc>
              <a:spcBef>
                <a:spcPts val="143"/>
              </a:spcBef>
              <a:tabLst>
                <a:tab pos="17526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同步是具有挑战性的，可能引入不同类型的错误，如原子性违规、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顺序违规或死锁。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72" name="picture 6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1165" y="2251494"/>
            <a:ext cx="65201" cy="65201"/>
          </a:xfrm>
          <a:prstGeom prst="rect">
            <a:avLst/>
          </a:prstGeom>
        </p:spPr>
      </p:pic>
      <p:pic>
        <p:nvPicPr>
          <p:cNvPr id="674" name="picture 6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0915" y="2092083"/>
            <a:ext cx="52527" cy="52527"/>
          </a:xfrm>
          <a:prstGeom prst="rect">
            <a:avLst/>
          </a:prstGeom>
        </p:spPr>
      </p:pic>
      <p:pic>
        <p:nvPicPr>
          <p:cNvPr id="676" name="picture 6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0915" y="1940255"/>
            <a:ext cx="52527" cy="52527"/>
          </a:xfrm>
          <a:prstGeom prst="rect">
            <a:avLst/>
          </a:prstGeom>
        </p:spPr>
      </p:pic>
      <p:pic>
        <p:nvPicPr>
          <p:cNvPr id="678" name="picture 6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1165" y="1775752"/>
            <a:ext cx="65201" cy="65201"/>
          </a:xfrm>
          <a:prstGeom prst="rect">
            <a:avLst/>
          </a:prstGeom>
        </p:spPr>
      </p:pic>
      <p:pic>
        <p:nvPicPr>
          <p:cNvPr id="680" name="picture 6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70915" y="1616354"/>
            <a:ext cx="52527" cy="52527"/>
          </a:xfrm>
          <a:prstGeom prst="rect">
            <a:avLst/>
          </a:prstGeom>
        </p:spPr>
      </p:pic>
      <p:pic>
        <p:nvPicPr>
          <p:cNvPr id="682" name="picture 6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70915" y="1464525"/>
            <a:ext cx="52527" cy="52527"/>
          </a:xfrm>
          <a:prstGeom prst="rect">
            <a:avLst/>
          </a:prstGeom>
        </p:spPr>
      </p:pic>
      <p:pic>
        <p:nvPicPr>
          <p:cNvPr id="684" name="picture 6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70915" y="1312697"/>
            <a:ext cx="52527" cy="52527"/>
          </a:xfrm>
          <a:prstGeom prst="rect">
            <a:avLst/>
          </a:prstGeom>
        </p:spPr>
      </p:pic>
      <p:pic>
        <p:nvPicPr>
          <p:cNvPr id="686" name="picture 68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81165" y="1148181"/>
            <a:ext cx="65201" cy="65201"/>
          </a:xfrm>
          <a:prstGeom prst="rect">
            <a:avLst/>
          </a:prstGeom>
        </p:spPr>
      </p:pic>
      <p:grpSp>
        <p:nvGrpSpPr>
          <p:cNvPr id="172" name="group 172"/>
          <p:cNvGrpSpPr/>
          <p:nvPr/>
        </p:nvGrpSpPr>
        <p:grpSpPr>
          <a:xfrm rot="21600000">
            <a:off x="0" y="50"/>
            <a:ext cx="4607940" cy="490156"/>
            <a:chOff x="0" y="0"/>
            <a:chExt cx="4607940" cy="490156"/>
          </a:xfrm>
        </p:grpSpPr>
        <p:pic>
          <p:nvPicPr>
            <p:cNvPr id="688" name="picture 68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4607940" cy="490156"/>
            </a:xfrm>
            <a:prstGeom prst="rect">
              <a:avLst/>
            </a:prstGeom>
          </p:spPr>
        </p:pic>
        <p:sp>
          <p:nvSpPr>
            <p:cNvPr id="690" name="textbox 690"/>
            <p:cNvSpPr/>
            <p:nvPr/>
          </p:nvSpPr>
          <p:spPr>
            <a:xfrm>
              <a:off x="-12700" y="-12700"/>
              <a:ext cx="4633595" cy="5499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064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400" kern="0" spc="-30" dirty="0">
                  <a:solidFill>
                    <a:srgbClr val="CC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总结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74" name="group 174"/>
          <p:cNvGrpSpPr/>
          <p:nvPr/>
        </p:nvGrpSpPr>
        <p:grpSpPr>
          <a:xfrm rot="21600000">
            <a:off x="0" y="3342233"/>
            <a:ext cx="4607928" cy="113817"/>
            <a:chOff x="0" y="0"/>
            <a:chExt cx="4607928" cy="113817"/>
          </a:xfrm>
        </p:grpSpPr>
        <p:pic>
          <p:nvPicPr>
            <p:cNvPr id="692" name="picture 69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4267"/>
              <a:ext cx="4607928" cy="109550"/>
            </a:xfrm>
            <a:prstGeom prst="rect">
              <a:avLst/>
            </a:prstGeom>
          </p:spPr>
        </p:pic>
        <p:sp>
          <p:nvSpPr>
            <p:cNvPr id="694" name="textbox 694"/>
            <p:cNvSpPr/>
            <p:nvPr/>
          </p:nvSpPr>
          <p:spPr>
            <a:xfrm>
              <a:off x="-12700" y="-12700"/>
              <a:ext cx="4633595" cy="139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88340" algn="l" rtl="0" eaLnBrk="0">
                <a:lnSpc>
                  <a:spcPts val="833"/>
                </a:lnSpc>
                <a:tabLst/>
              </a:pPr>
              <a:r>
                <a:rPr sz="500" kern="0" spc="0" dirty="0">
                  <a:solidFill>
                    <a:srgbClr val="F2F2F2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syslab                                                                                 </a:t>
              </a:r>
              <a:r>
                <a:rPr sz="500" kern="0" spc="5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  <a:hlinkClick r:id="rId12" tooltip="" action="ppaction://hlinksldjump">
                    <a:extLst>
                      <a:ext uri="{DAF060AB-1E55-43B9-8AAB-6FB025537F2F}">
                        <wpsdc:hlinkClr xmlns:wpsdc="http://www.wps.cn/officeDocument/2017/drawingmlCustomData" val="008080"/>
                        <wpsdc:folHlinkClr xmlns:wpsdc="http://www.wps.cn/officeDocument/2017/drawingmlCustomData" val="008080"/>
                        <wpsdc:hlinkUnderline xmlns:wpsdc="http://www.wps.cn/officeDocument/2017/drawingmlCustomData" val="0"/>
                      </a:ext>
                    </a:extLst>
                  </a:hlinkClick>
                </a:rPr>
                <a:t>操作系统</a:t>
              </a:r>
              <a:r>
                <a:rPr sz="500" kern="0" spc="1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500" kern="0" spc="0" dirty="0">
                  <a:solidFill>
                    <a:srgbClr val="00808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2025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                                       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r>
                <a:rPr sz="500" kern="0" spc="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/</a:t>
              </a:r>
              <a:r>
                <a:rPr sz="500" kern="0" spc="-1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 </a:t>
              </a:r>
              <a:r>
                <a:rPr sz="500" kern="0" spc="50" dirty="0">
                  <a:solidFill>
                    <a:srgbClr val="7A0000">
                      <a:alpha val="100000"/>
                    </a:srgbClr>
                  </a:solidFill>
                  <a:latin typeface="Georgia"/>
                  <a:ea typeface="Georgia"/>
                  <a:cs typeface="Georgia"/>
                </a:rPr>
                <a:t>30</a:t>
              </a:r>
              <a:endParaRPr sz="500" dirty="0">
                <a:latin typeface="Georgia"/>
                <a:ea typeface="Georgia"/>
                <a:cs typeface="Georgia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LaTeX via pandoc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操作系统 - 信号量 (semaphores)</dc:title>
  <dc:creator>syslab</dc:creator>
  <dcterms:created xsi:type="dcterms:W3CDTF">2025-05-06T07:04:38Z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2025-06-15T14:28:46</vt:filetime>
  </property>
</Properties>
</file>